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  <p:sldId id="260" r:id="rId9"/>
    <p:sldId id="261" r:id="rId8"/>
    <p:sldId id="262" r:id="rId7"/>
    <p:sldId id="263" r:id="rId15"/>
  </p:sldIdLst>
  <p:sldSz cx="12192000" cy="6858000"/>
  <p:notesSz cx="7099300" cy="102346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748">
          <p15:clr>
            <a:srgbClr val="A4A3A4"/>
          </p15:clr>
        </p15:guide>
        <p15:guide id="2" orient="horz" pos="4198">
          <p15:clr>
            <a:srgbClr val="A4A3A4"/>
          </p15:clr>
        </p15:guide>
        <p15:guide id="3" orient="horz" pos="2183">
          <p15:clr>
            <a:srgbClr val="A4A3A4"/>
          </p15:clr>
        </p15:guide>
        <p15:guide id="4" orient="horz" pos="3668">
          <p15:clr>
            <a:srgbClr val="A4A3A4"/>
          </p15:clr>
        </p15:guide>
        <p15:guide id="5" orient="horz" pos="527">
          <p15:clr>
            <a:srgbClr val="A4A3A4"/>
          </p15:clr>
        </p15:guide>
        <p15:guide id="6" pos="7483">
          <p15:clr>
            <a:srgbClr val="A4A3A4"/>
          </p15:clr>
        </p15:guide>
        <p15:guide id="7" pos="180">
          <p15:clr>
            <a:srgbClr val="A4A3A4"/>
          </p15:clr>
        </p15:guide>
        <p15:guide id="8" pos="2819">
          <p15:clr>
            <a:srgbClr val="A4A3A4"/>
          </p15:clr>
        </p15:guide>
        <p15:guide id="9" pos="1935">
          <p15:clr>
            <a:srgbClr val="A4A3A4"/>
          </p15:clr>
        </p15:guide>
        <p15:guide id="10" orient="horz" pos="1003">
          <p15:clr>
            <a:srgbClr val="A4A3A4"/>
          </p15:clr>
        </p15:guide>
        <p15:guide id="11" orient="horz" pos="3770">
          <p15:clr>
            <a:srgbClr val="A4A3A4"/>
          </p15:clr>
        </p15:guide>
        <p15:guide id="12" orient="horz" pos="3374">
          <p15:clr>
            <a:srgbClr val="A4A3A4"/>
          </p15:clr>
        </p15:guide>
        <p15:guide id="13" orient="horz" pos="13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SH5P3bQeL8iuyXydHxe5gfBqT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7" d="100"/>
          <a:sy n="117" d="100"/>
        </p:scale>
        <p:origin x="360" y="168"/>
      </p:cViewPr>
      <p:guideLst>
        <p:guide orient="horz" pos="3748"/>
        <p:guide orient="horz" pos="4198"/>
        <p:guide orient="horz" pos="2183"/>
        <p:guide orient="horz" pos="3668"/>
        <p:guide orient="horz" pos="527"/>
        <p:guide pos="7483"/>
        <p:guide pos="180"/>
        <p:guide pos="2819"/>
        <p:guide pos="1935"/>
        <p:guide orient="horz" pos="1003"/>
        <p:guide orient="horz" pos="3770"/>
        <p:guide orient="horz" pos="3374"/>
        <p:guide orient="horz" pos="132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224"/>
        <p:guide pos="2237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7.xml"/><Relationship Id="rId8" Type="http://schemas.openxmlformats.org/officeDocument/2006/relationships/slide" Target="slides/slide6.xml"/><Relationship Id="rId9" Type="http://schemas.openxmlformats.org/officeDocument/2006/relationships/slide" Target="slides/slide5.xml"/><Relationship Id="rId10" Type="http://customschemas.google.com/relationships/presentationmetadata" Target="meta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Entity 1: surplus and stressed surplus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</c:v>
                </c:pt>
              </c:strCache>
            </c:strRef>
          </c:tx>
          <c:spPr>
            <a:ln w="31750">
              <a:solidFill>
                <a:srgbClr val="002D72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30.0</c:v>
                </c:pt>
                <c:pt idx="1">
                  <c:v>27.5</c:v>
                </c:pt>
                <c:pt idx="2">
                  <c:v>31.17</c:v>
                </c:pt>
                <c:pt idx="3">
                  <c:v>34.83</c:v>
                </c:pt>
                <c:pt idx="4">
                  <c:v>33.74</c:v>
                </c:pt>
                <c:pt idx="5">
                  <c:v>31.55</c:v>
                </c:pt>
                <c:pt idx="6">
                  <c:v>33.25</c:v>
                </c:pt>
                <c:pt idx="7">
                  <c:v>36.67</c:v>
                </c:pt>
                <c:pt idx="8">
                  <c:v>37.79</c:v>
                </c:pt>
                <c:pt idx="9">
                  <c:v>36.69</c:v>
                </c:pt>
                <c:pt idx="10">
                  <c:v>34.51</c:v>
                </c:pt>
                <c:pt idx="11">
                  <c:v>29.85</c:v>
                </c:pt>
                <c:pt idx="12">
                  <c:v>28.95</c:v>
                </c:pt>
                <c:pt idx="13">
                  <c:v>24.36</c:v>
                </c:pt>
                <c:pt idx="14">
                  <c:v>21.64</c:v>
                </c:pt>
                <c:pt idx="15">
                  <c:v>21.64</c:v>
                </c:pt>
                <c:pt idx="16">
                  <c:v>22.59</c:v>
                </c:pt>
                <c:pt idx="17">
                  <c:v>20.4</c:v>
                </c:pt>
                <c:pt idx="18">
                  <c:v>24.36</c:v>
                </c:pt>
                <c:pt idx="19">
                  <c:v>20.26</c:v>
                </c:pt>
                <c:pt idx="20">
                  <c:v>22.36</c:v>
                </c:pt>
                <c:pt idx="21">
                  <c:v>19.66</c:v>
                </c:pt>
                <c:pt idx="22">
                  <c:v>16.03</c:v>
                </c:pt>
                <c:pt idx="23">
                  <c:v>10.64</c:v>
                </c:pt>
                <c:pt idx="24">
                  <c:v>12.72</c:v>
                </c:pt>
                <c:pt idx="25">
                  <c:v>11.25</c:v>
                </c:pt>
                <c:pt idx="26">
                  <c:v>13.71</c:v>
                </c:pt>
                <c:pt idx="27">
                  <c:v>8.8</c:v>
                </c:pt>
                <c:pt idx="28">
                  <c:v>9.63</c:v>
                </c:pt>
                <c:pt idx="29">
                  <c:v>8.07</c:v>
                </c:pt>
                <c:pt idx="30">
                  <c:v>2.19</c:v>
                </c:pt>
                <c:pt idx="31">
                  <c:v>0.3</c:v>
                </c:pt>
                <c:pt idx="32">
                  <c:v>-2.47</c:v>
                </c:pt>
                <c:pt idx="33">
                  <c:v>-2.47</c:v>
                </c:pt>
                <c:pt idx="34">
                  <c:v>-4.38</c:v>
                </c:pt>
                <c:pt idx="35">
                  <c:v>-1.61</c:v>
                </c:pt>
                <c:pt idx="36">
                  <c:v>-3.51</c:v>
                </c:pt>
                <c:pt idx="37">
                  <c:v>-11.14</c:v>
                </c:pt>
                <c:pt idx="38">
                  <c:v>-12.38</c:v>
                </c:pt>
                <c:pt idx="39">
                  <c:v>-9.61</c:v>
                </c:pt>
                <c:pt idx="40">
                  <c:v>-10.95</c:v>
                </c:pt>
                <c:pt idx="41">
                  <c:v>-19.1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Stressed surplus</c:v>
                </c:pt>
              </c:strCache>
            </c:strRef>
          </c:tx>
          <c:spPr>
            <a:ln w="31750">
              <a:solidFill>
                <a:srgbClr val="1B9AAA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6.0</c:v>
                </c:pt>
                <c:pt idx="1">
                  <c:v>2.7</c:v>
                </c:pt>
                <c:pt idx="2">
                  <c:v>7.11</c:v>
                </c:pt>
                <c:pt idx="3">
                  <c:v>9.98</c:v>
                </c:pt>
                <c:pt idx="4">
                  <c:v>7.71</c:v>
                </c:pt>
                <c:pt idx="5">
                  <c:v>5.75</c:v>
                </c:pt>
                <c:pt idx="6">
                  <c:v>6.83</c:v>
                </c:pt>
                <c:pt idx="7">
                  <c:v>10.59</c:v>
                </c:pt>
                <c:pt idx="8">
                  <c:v>12.28</c:v>
                </c:pt>
                <c:pt idx="9">
                  <c:v>11.29</c:v>
                </c:pt>
                <c:pt idx="10">
                  <c:v>9.32</c:v>
                </c:pt>
                <c:pt idx="11">
                  <c:v>4.69</c:v>
                </c:pt>
                <c:pt idx="12">
                  <c:v>4.55</c:v>
                </c:pt>
                <c:pt idx="13">
                  <c:v>-0.65</c:v>
                </c:pt>
                <c:pt idx="14">
                  <c:v>-2.43</c:v>
                </c:pt>
                <c:pt idx="15">
                  <c:v>-2.43</c:v>
                </c:pt>
                <c:pt idx="16">
                  <c:v>-1.58</c:v>
                </c:pt>
                <c:pt idx="17">
                  <c:v>-4.2</c:v>
                </c:pt>
                <c:pt idx="18">
                  <c:v>0.27</c:v>
                </c:pt>
                <c:pt idx="19">
                  <c:v>-4.07</c:v>
                </c:pt>
                <c:pt idx="20">
                  <c:v>-2.41</c:v>
                </c:pt>
                <c:pt idx="21">
                  <c:v>-5.06</c:v>
                </c:pt>
                <c:pt idx="22">
                  <c:v>-8.55</c:v>
                </c:pt>
                <c:pt idx="23">
                  <c:v>-13.64</c:v>
                </c:pt>
                <c:pt idx="24">
                  <c:v>-12.47</c:v>
                </c:pt>
                <c:pt idx="25">
                  <c:v>-14.5</c:v>
                </c:pt>
                <c:pt idx="26">
                  <c:v>-11.55</c:v>
                </c:pt>
                <c:pt idx="27">
                  <c:v>-17.17</c:v>
                </c:pt>
                <c:pt idx="28">
                  <c:v>-16.16</c:v>
                </c:pt>
                <c:pt idx="29">
                  <c:v>-18.31</c:v>
                </c:pt>
                <c:pt idx="30">
                  <c:v>-25.66</c:v>
                </c:pt>
                <c:pt idx="31">
                  <c:v>-27.35</c:v>
                </c:pt>
                <c:pt idx="32">
                  <c:v>-30.12</c:v>
                </c:pt>
                <c:pt idx="33">
                  <c:v>-30.12</c:v>
                </c:pt>
                <c:pt idx="34">
                  <c:v>-32.95</c:v>
                </c:pt>
                <c:pt idx="35">
                  <c:v>-30.46</c:v>
                </c:pt>
                <c:pt idx="36">
                  <c:v>-32.17</c:v>
                </c:pt>
                <c:pt idx="37">
                  <c:v>-40.49</c:v>
                </c:pt>
                <c:pt idx="38">
                  <c:v>-42.52</c:v>
                </c:pt>
                <c:pt idx="39">
                  <c:v>-40.03</c:v>
                </c:pt>
                <c:pt idx="40">
                  <c:v>-42.49</c:v>
                </c:pt>
                <c:pt idx="41">
                  <c:v>-50.81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EWT: 50% of Dec ’22 (15.0)</c:v>
                </c:pt>
              </c:strCache>
            </c:strRef>
          </c:tx>
          <c:spPr>
            <a:ln w="22225">
              <a:solidFill>
                <a:srgbClr val="D98E04"/>
              </a:solidFill>
              <a:prstDash val="dash"/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Sheet1!$D$2:$D$43</c:f>
              <c:numCache>
                <c:formatCode>General</c:formatCode>
                <c:ptCount val="42"/>
                <c:pt idx="0">
                  <c:v>15.0</c:v>
                </c:pt>
                <c:pt idx="1">
                  <c:v>15.0</c:v>
                </c:pt>
                <c:pt idx="2">
                  <c:v>15.0</c:v>
                </c:pt>
                <c:pt idx="3">
                  <c:v>15.0</c:v>
                </c:pt>
                <c:pt idx="4">
                  <c:v>15.0</c:v>
                </c:pt>
                <c:pt idx="5">
                  <c:v>15.0</c:v>
                </c:pt>
                <c:pt idx="6">
                  <c:v>15.0</c:v>
                </c:pt>
                <c:pt idx="7">
                  <c:v>15.0</c:v>
                </c:pt>
                <c:pt idx="8">
                  <c:v>15.0</c:v>
                </c:pt>
                <c:pt idx="9">
                  <c:v>15.0</c:v>
                </c:pt>
                <c:pt idx="10">
                  <c:v>15.0</c:v>
                </c:pt>
                <c:pt idx="11">
                  <c:v>15.0</c:v>
                </c:pt>
                <c:pt idx="12">
                  <c:v>15.0</c:v>
                </c:pt>
                <c:pt idx="13">
                  <c:v>15.0</c:v>
                </c:pt>
                <c:pt idx="14">
                  <c:v>15.0</c:v>
                </c:pt>
                <c:pt idx="15">
                  <c:v>15.0</c:v>
                </c:pt>
                <c:pt idx="16">
                  <c:v>15.0</c:v>
                </c:pt>
                <c:pt idx="17">
                  <c:v>15.0</c:v>
                </c:pt>
                <c:pt idx="18">
                  <c:v>15.0</c:v>
                </c:pt>
                <c:pt idx="19">
                  <c:v>15.0</c:v>
                </c:pt>
                <c:pt idx="20">
                  <c:v>15.0</c:v>
                </c:pt>
                <c:pt idx="21">
                  <c:v>15.0</c:v>
                </c:pt>
                <c:pt idx="22">
                  <c:v>15.0</c:v>
                </c:pt>
                <c:pt idx="23">
                  <c:v>15.0</c:v>
                </c:pt>
                <c:pt idx="24">
                  <c:v>15.0</c:v>
                </c:pt>
                <c:pt idx="25">
                  <c:v>15.0</c:v>
                </c:pt>
                <c:pt idx="26">
                  <c:v>15.0</c:v>
                </c:pt>
                <c:pt idx="27">
                  <c:v>15.0</c:v>
                </c:pt>
                <c:pt idx="28">
                  <c:v>15.0</c:v>
                </c:pt>
                <c:pt idx="29">
                  <c:v>15.0</c:v>
                </c:pt>
                <c:pt idx="30">
                  <c:v>15.0</c:v>
                </c:pt>
                <c:pt idx="31">
                  <c:v>15.0</c:v>
                </c:pt>
                <c:pt idx="32">
                  <c:v>15.0</c:v>
                </c:pt>
                <c:pt idx="33">
                  <c:v>15.0</c:v>
                </c:pt>
                <c:pt idx="34">
                  <c:v>15.0</c:v>
                </c:pt>
                <c:pt idx="35">
                  <c:v>15.0</c:v>
                </c:pt>
                <c:pt idx="36">
                  <c:v>15.0</c:v>
                </c:pt>
                <c:pt idx="37">
                  <c:v>15.0</c:v>
                </c:pt>
                <c:pt idx="38">
                  <c:v>15.0</c:v>
                </c:pt>
                <c:pt idx="39">
                  <c:v>15.0</c:v>
                </c:pt>
                <c:pt idx="40">
                  <c:v>15.0</c:v>
                </c:pt>
                <c:pt idx="41">
                  <c:v>15.0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MAT: zero</c:v>
                </c:pt>
              </c:strCache>
            </c:strRef>
          </c:tx>
          <c:spPr>
            <a:ln w="22225">
              <a:solidFill>
                <a:srgbClr val="C8102E"/>
              </a:solidFill>
              <a:prstDash val="dash"/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Sheet1!$E$2:$E$43</c:f>
              <c:numCache>
                <c:formatCode>General</c:formatCode>
                <c:ptCount val="42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#,##0;(#,##0)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Entity 2: surplus and stressed surplus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</c:v>
                </c:pt>
              </c:strCache>
            </c:strRef>
          </c:tx>
          <c:spPr>
            <a:ln w="31750">
              <a:solidFill>
                <a:srgbClr val="002D72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65.0</c:v>
                </c:pt>
                <c:pt idx="1">
                  <c:v>65.85</c:v>
                </c:pt>
                <c:pt idx="2">
                  <c:v>62.13</c:v>
                </c:pt>
                <c:pt idx="3">
                  <c:v>66.72</c:v>
                </c:pt>
                <c:pt idx="4">
                  <c:v>64.88</c:v>
                </c:pt>
                <c:pt idx="5">
                  <c:v>64.53</c:v>
                </c:pt>
                <c:pt idx="6">
                  <c:v>64.15</c:v>
                </c:pt>
                <c:pt idx="7">
                  <c:v>61.39</c:v>
                </c:pt>
                <c:pt idx="8">
                  <c:v>65.48</c:v>
                </c:pt>
                <c:pt idx="9">
                  <c:v>62.42</c:v>
                </c:pt>
                <c:pt idx="10">
                  <c:v>59.53</c:v>
                </c:pt>
                <c:pt idx="11">
                  <c:v>57.37</c:v>
                </c:pt>
                <c:pt idx="12">
                  <c:v>53.9</c:v>
                </c:pt>
                <c:pt idx="13">
                  <c:v>53.41</c:v>
                </c:pt>
                <c:pt idx="14">
                  <c:v>53.47</c:v>
                </c:pt>
                <c:pt idx="15">
                  <c:v>55.62</c:v>
                </c:pt>
                <c:pt idx="16">
                  <c:v>51.73</c:v>
                </c:pt>
                <c:pt idx="17">
                  <c:v>53.86</c:v>
                </c:pt>
                <c:pt idx="18">
                  <c:v>54.41</c:v>
                </c:pt>
                <c:pt idx="19">
                  <c:v>52.78</c:v>
                </c:pt>
                <c:pt idx="20">
                  <c:v>54.36</c:v>
                </c:pt>
                <c:pt idx="21">
                  <c:v>56.04</c:v>
                </c:pt>
                <c:pt idx="22">
                  <c:v>54.36</c:v>
                </c:pt>
                <c:pt idx="23">
                  <c:v>51.64</c:v>
                </c:pt>
                <c:pt idx="24">
                  <c:v>50.05</c:v>
                </c:pt>
                <c:pt idx="25">
                  <c:v>52.09</c:v>
                </c:pt>
                <c:pt idx="26">
                  <c:v>51.02</c:v>
                </c:pt>
                <c:pt idx="27">
                  <c:v>51.02</c:v>
                </c:pt>
                <c:pt idx="28">
                  <c:v>52.04</c:v>
                </c:pt>
                <c:pt idx="29">
                  <c:v>47.65</c:v>
                </c:pt>
                <c:pt idx="30">
                  <c:v>44.19</c:v>
                </c:pt>
                <c:pt idx="31">
                  <c:v>41.04</c:v>
                </c:pt>
                <c:pt idx="32">
                  <c:v>41.86</c:v>
                </c:pt>
                <c:pt idx="33">
                  <c:v>39.36</c:v>
                </c:pt>
                <c:pt idx="34">
                  <c:v>34.42</c:v>
                </c:pt>
                <c:pt idx="35">
                  <c:v>39.45</c:v>
                </c:pt>
                <c:pt idx="36">
                  <c:v>35.57</c:v>
                </c:pt>
                <c:pt idx="37">
                  <c:v>38.69</c:v>
                </c:pt>
                <c:pt idx="38">
                  <c:v>38.01</c:v>
                </c:pt>
                <c:pt idx="39">
                  <c:v>35.17</c:v>
                </c:pt>
                <c:pt idx="40">
                  <c:v>33.77</c:v>
                </c:pt>
                <c:pt idx="41">
                  <c:v>32.42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Stressed surplus</c:v>
                </c:pt>
              </c:strCache>
            </c:strRef>
          </c:tx>
          <c:spPr>
            <a:ln w="31750">
              <a:solidFill>
                <a:srgbClr val="1B9AAA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43.5</c:v>
                </c:pt>
                <c:pt idx="1">
                  <c:v>44.87</c:v>
                </c:pt>
                <c:pt idx="2">
                  <c:v>41.09</c:v>
                </c:pt>
                <c:pt idx="3">
                  <c:v>44.92</c:v>
                </c:pt>
                <c:pt idx="4">
                  <c:v>43.42</c:v>
                </c:pt>
                <c:pt idx="5">
                  <c:v>42.65</c:v>
                </c:pt>
                <c:pt idx="6">
                  <c:v>41.85</c:v>
                </c:pt>
                <c:pt idx="7">
                  <c:v>38.89</c:v>
                </c:pt>
                <c:pt idx="8">
                  <c:v>42.41</c:v>
                </c:pt>
                <c:pt idx="9">
                  <c:v>39.81</c:v>
                </c:pt>
                <c:pt idx="10">
                  <c:v>37.05</c:v>
                </c:pt>
                <c:pt idx="11">
                  <c:v>34.12</c:v>
                </c:pt>
                <c:pt idx="12">
                  <c:v>30.99</c:v>
                </c:pt>
                <c:pt idx="13">
                  <c:v>31.07</c:v>
                </c:pt>
                <c:pt idx="14">
                  <c:v>31.81</c:v>
                </c:pt>
                <c:pt idx="15">
                  <c:v>33.42</c:v>
                </c:pt>
                <c:pt idx="16">
                  <c:v>30.08</c:v>
                </c:pt>
                <c:pt idx="17">
                  <c:v>32.0</c:v>
                </c:pt>
                <c:pt idx="18">
                  <c:v>32.66</c:v>
                </c:pt>
                <c:pt idx="19">
                  <c:v>31.03</c:v>
                </c:pt>
                <c:pt idx="20">
                  <c:v>31.96</c:v>
                </c:pt>
                <c:pt idx="21">
                  <c:v>33.64</c:v>
                </c:pt>
                <c:pt idx="22">
                  <c:v>32.63</c:v>
                </c:pt>
                <c:pt idx="23">
                  <c:v>30.35</c:v>
                </c:pt>
                <c:pt idx="24">
                  <c:v>28.75</c:v>
                </c:pt>
                <c:pt idx="25">
                  <c:v>30.27</c:v>
                </c:pt>
                <c:pt idx="26">
                  <c:v>29.3</c:v>
                </c:pt>
                <c:pt idx="27">
                  <c:v>29.3</c:v>
                </c:pt>
                <c:pt idx="28">
                  <c:v>29.88</c:v>
                </c:pt>
                <c:pt idx="29">
                  <c:v>25.6</c:v>
                </c:pt>
                <c:pt idx="30">
                  <c:v>21.45</c:v>
                </c:pt>
                <c:pt idx="31">
                  <c:v>18.61</c:v>
                </c:pt>
                <c:pt idx="32">
                  <c:v>18.98</c:v>
                </c:pt>
                <c:pt idx="33">
                  <c:v>16.91</c:v>
                </c:pt>
                <c:pt idx="34">
                  <c:v>10.99</c:v>
                </c:pt>
                <c:pt idx="35">
                  <c:v>16.12</c:v>
                </c:pt>
                <c:pt idx="36">
                  <c:v>11.47</c:v>
                </c:pt>
                <c:pt idx="37">
                  <c:v>14.28</c:v>
                </c:pt>
                <c:pt idx="38">
                  <c:v>13.45</c:v>
                </c:pt>
                <c:pt idx="39">
                  <c:v>10.69</c:v>
                </c:pt>
                <c:pt idx="40">
                  <c:v>9.64</c:v>
                </c:pt>
                <c:pt idx="41">
                  <c:v>9.26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EWT: 50% of Dec ’22 (32.5)</c:v>
                </c:pt>
              </c:strCache>
            </c:strRef>
          </c:tx>
          <c:spPr>
            <a:ln w="22225">
              <a:solidFill>
                <a:srgbClr val="D98E04"/>
              </a:solidFill>
              <a:prstDash val="dash"/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Sheet1!$D$2:$D$43</c:f>
              <c:numCache>
                <c:formatCode>General</c:formatCode>
                <c:ptCount val="42"/>
                <c:pt idx="0">
                  <c:v>32.5</c:v>
                </c:pt>
                <c:pt idx="1">
                  <c:v>32.5</c:v>
                </c:pt>
                <c:pt idx="2">
                  <c:v>32.5</c:v>
                </c:pt>
                <c:pt idx="3">
                  <c:v>32.5</c:v>
                </c:pt>
                <c:pt idx="4">
                  <c:v>32.5</c:v>
                </c:pt>
                <c:pt idx="5">
                  <c:v>32.5</c:v>
                </c:pt>
                <c:pt idx="6">
                  <c:v>32.5</c:v>
                </c:pt>
                <c:pt idx="7">
                  <c:v>32.5</c:v>
                </c:pt>
                <c:pt idx="8">
                  <c:v>32.5</c:v>
                </c:pt>
                <c:pt idx="9">
                  <c:v>32.5</c:v>
                </c:pt>
                <c:pt idx="10">
                  <c:v>32.5</c:v>
                </c:pt>
                <c:pt idx="11">
                  <c:v>32.5</c:v>
                </c:pt>
                <c:pt idx="12">
                  <c:v>32.5</c:v>
                </c:pt>
                <c:pt idx="13">
                  <c:v>32.5</c:v>
                </c:pt>
                <c:pt idx="14">
                  <c:v>32.5</c:v>
                </c:pt>
                <c:pt idx="15">
                  <c:v>32.5</c:v>
                </c:pt>
                <c:pt idx="16">
                  <c:v>32.5</c:v>
                </c:pt>
                <c:pt idx="17">
                  <c:v>32.5</c:v>
                </c:pt>
                <c:pt idx="18">
                  <c:v>32.5</c:v>
                </c:pt>
                <c:pt idx="19">
                  <c:v>32.5</c:v>
                </c:pt>
                <c:pt idx="20">
                  <c:v>32.5</c:v>
                </c:pt>
                <c:pt idx="21">
                  <c:v>32.5</c:v>
                </c:pt>
                <c:pt idx="22">
                  <c:v>32.5</c:v>
                </c:pt>
                <c:pt idx="23">
                  <c:v>32.5</c:v>
                </c:pt>
                <c:pt idx="24">
                  <c:v>32.5</c:v>
                </c:pt>
                <c:pt idx="25">
                  <c:v>32.5</c:v>
                </c:pt>
                <c:pt idx="26">
                  <c:v>32.5</c:v>
                </c:pt>
                <c:pt idx="27">
                  <c:v>32.5</c:v>
                </c:pt>
                <c:pt idx="28">
                  <c:v>32.5</c:v>
                </c:pt>
                <c:pt idx="29">
                  <c:v>32.5</c:v>
                </c:pt>
                <c:pt idx="30">
                  <c:v>32.5</c:v>
                </c:pt>
                <c:pt idx="31">
                  <c:v>32.5</c:v>
                </c:pt>
                <c:pt idx="32">
                  <c:v>32.5</c:v>
                </c:pt>
                <c:pt idx="33">
                  <c:v>32.5</c:v>
                </c:pt>
                <c:pt idx="34">
                  <c:v>32.5</c:v>
                </c:pt>
                <c:pt idx="35">
                  <c:v>32.5</c:v>
                </c:pt>
                <c:pt idx="36">
                  <c:v>32.5</c:v>
                </c:pt>
                <c:pt idx="37">
                  <c:v>32.5</c:v>
                </c:pt>
                <c:pt idx="38">
                  <c:v>32.5</c:v>
                </c:pt>
                <c:pt idx="39">
                  <c:v>32.5</c:v>
                </c:pt>
                <c:pt idx="40">
                  <c:v>32.5</c:v>
                </c:pt>
                <c:pt idx="41">
                  <c:v>32.5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#,##0;(#,##0)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>
                <a:solidFill>
                  <a:srgbClr val="44546A"/>
                </a:solidFill>
                <a:latin typeface="Arial"/>
              </a:rPr>
              <a:t>Entity 3: surplus and stressed surplus ($m)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Surplus</c:v>
                </c:pt>
              </c:strCache>
            </c:strRef>
          </c:tx>
          <c:spPr>
            <a:ln w="31750">
              <a:solidFill>
                <a:srgbClr val="002D72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Sheet1!$B$2:$B$43</c:f>
              <c:numCache>
                <c:formatCode>General</c:formatCode>
                <c:ptCount val="42"/>
                <c:pt idx="0">
                  <c:v>240.0</c:v>
                </c:pt>
                <c:pt idx="1">
                  <c:v>242.2</c:v>
                </c:pt>
                <c:pt idx="2">
                  <c:v>234.93</c:v>
                </c:pt>
                <c:pt idx="3">
                  <c:v>237.38</c:v>
                </c:pt>
                <c:pt idx="4">
                  <c:v>242.43</c:v>
                </c:pt>
                <c:pt idx="5">
                  <c:v>245.25</c:v>
                </c:pt>
                <c:pt idx="6">
                  <c:v>237.61</c:v>
                </c:pt>
                <c:pt idx="7">
                  <c:v>237.32</c:v>
                </c:pt>
                <c:pt idx="8">
                  <c:v>237.22</c:v>
                </c:pt>
                <c:pt idx="9">
                  <c:v>232.27</c:v>
                </c:pt>
                <c:pt idx="10">
                  <c:v>239.54</c:v>
                </c:pt>
                <c:pt idx="11">
                  <c:v>239.54</c:v>
                </c:pt>
                <c:pt idx="12">
                  <c:v>239.34</c:v>
                </c:pt>
                <c:pt idx="13">
                  <c:v>239.65</c:v>
                </c:pt>
                <c:pt idx="14">
                  <c:v>229.47</c:v>
                </c:pt>
                <c:pt idx="15">
                  <c:v>236.56</c:v>
                </c:pt>
                <c:pt idx="16">
                  <c:v>243.65</c:v>
                </c:pt>
                <c:pt idx="17">
                  <c:v>245.88</c:v>
                </c:pt>
                <c:pt idx="18">
                  <c:v>253.58</c:v>
                </c:pt>
                <c:pt idx="19">
                  <c:v>250.72</c:v>
                </c:pt>
                <c:pt idx="20">
                  <c:v>244.93</c:v>
                </c:pt>
                <c:pt idx="21">
                  <c:v>239.8</c:v>
                </c:pt>
                <c:pt idx="22">
                  <c:v>242.78</c:v>
                </c:pt>
                <c:pt idx="23">
                  <c:v>249.51</c:v>
                </c:pt>
                <c:pt idx="24">
                  <c:v>246.89</c:v>
                </c:pt>
                <c:pt idx="25">
                  <c:v>251.71</c:v>
                </c:pt>
                <c:pt idx="26">
                  <c:v>262.27</c:v>
                </c:pt>
                <c:pt idx="27">
                  <c:v>264.65</c:v>
                </c:pt>
                <c:pt idx="28">
                  <c:v>278.9</c:v>
                </c:pt>
                <c:pt idx="29">
                  <c:v>270.53</c:v>
                </c:pt>
                <c:pt idx="30">
                  <c:v>267.71</c:v>
                </c:pt>
                <c:pt idx="31">
                  <c:v>258.6</c:v>
                </c:pt>
                <c:pt idx="32">
                  <c:v>266.74</c:v>
                </c:pt>
                <c:pt idx="33">
                  <c:v>257.85</c:v>
                </c:pt>
                <c:pt idx="34">
                  <c:v>263.27</c:v>
                </c:pt>
                <c:pt idx="35">
                  <c:v>260.5</c:v>
                </c:pt>
                <c:pt idx="36">
                  <c:v>268.85</c:v>
                </c:pt>
                <c:pt idx="37">
                  <c:v>277.3</c:v>
                </c:pt>
                <c:pt idx="38">
                  <c:v>274.79</c:v>
                </c:pt>
                <c:pt idx="39">
                  <c:v>277.41</c:v>
                </c:pt>
                <c:pt idx="40">
                  <c:v>286.51</c:v>
                </c:pt>
                <c:pt idx="41">
                  <c:v>286.26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Stressed surplus</c:v>
                </c:pt>
              </c:strCache>
            </c:strRef>
          </c:tx>
          <c:spPr>
            <a:ln w="31750">
              <a:solidFill>
                <a:srgbClr val="1B9AAA"/>
              </a:solidFill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Sheet1!$C$2:$C$43</c:f>
              <c:numCache>
                <c:formatCode>General</c:formatCode>
                <c:ptCount val="42"/>
                <c:pt idx="0">
                  <c:v>213.0</c:v>
                </c:pt>
                <c:pt idx="1">
                  <c:v>214.89</c:v>
                </c:pt>
                <c:pt idx="2">
                  <c:v>208.44</c:v>
                </c:pt>
                <c:pt idx="3">
                  <c:v>210.65</c:v>
                </c:pt>
                <c:pt idx="4">
                  <c:v>215.22</c:v>
                </c:pt>
                <c:pt idx="5">
                  <c:v>217.85</c:v>
                </c:pt>
                <c:pt idx="6">
                  <c:v>210.97</c:v>
                </c:pt>
                <c:pt idx="7">
                  <c:v>210.62</c:v>
                </c:pt>
                <c:pt idx="8">
                  <c:v>210.5</c:v>
                </c:pt>
                <c:pt idx="9">
                  <c:v>206.05</c:v>
                </c:pt>
                <c:pt idx="10">
                  <c:v>212.59</c:v>
                </c:pt>
                <c:pt idx="11">
                  <c:v>212.59</c:v>
                </c:pt>
                <c:pt idx="12">
                  <c:v>212.35</c:v>
                </c:pt>
                <c:pt idx="13">
                  <c:v>212.72</c:v>
                </c:pt>
                <c:pt idx="14">
                  <c:v>203.5</c:v>
                </c:pt>
                <c:pt idx="15">
                  <c:v>209.85</c:v>
                </c:pt>
                <c:pt idx="16">
                  <c:v>216.14</c:v>
                </c:pt>
                <c:pt idx="17">
                  <c:v>218.05</c:v>
                </c:pt>
                <c:pt idx="18">
                  <c:v>224.98</c:v>
                </c:pt>
                <c:pt idx="19">
                  <c:v>222.34</c:v>
                </c:pt>
                <c:pt idx="20">
                  <c:v>216.97</c:v>
                </c:pt>
                <c:pt idx="21">
                  <c:v>212.36</c:v>
                </c:pt>
                <c:pt idx="22">
                  <c:v>215.17</c:v>
                </c:pt>
                <c:pt idx="23">
                  <c:v>220.96</c:v>
                </c:pt>
                <c:pt idx="24">
                  <c:v>218.61</c:v>
                </c:pt>
                <c:pt idx="25">
                  <c:v>222.84</c:v>
                </c:pt>
                <c:pt idx="26">
                  <c:v>232.34</c:v>
                </c:pt>
                <c:pt idx="27">
                  <c:v>234.37</c:v>
                </c:pt>
                <c:pt idx="28">
                  <c:v>247.31</c:v>
                </c:pt>
                <c:pt idx="29">
                  <c:v>239.89</c:v>
                </c:pt>
                <c:pt idx="30">
                  <c:v>237.35</c:v>
                </c:pt>
                <c:pt idx="31">
                  <c:v>228.94</c:v>
                </c:pt>
                <c:pt idx="32">
                  <c:v>236.26</c:v>
                </c:pt>
                <c:pt idx="33">
                  <c:v>228.11</c:v>
                </c:pt>
                <c:pt idx="34">
                  <c:v>232.99</c:v>
                </c:pt>
                <c:pt idx="35">
                  <c:v>230.5</c:v>
                </c:pt>
                <c:pt idx="36">
                  <c:v>238.05</c:v>
                </c:pt>
                <c:pt idx="37">
                  <c:v>245.66</c:v>
                </c:pt>
                <c:pt idx="38">
                  <c:v>243.51</c:v>
                </c:pt>
                <c:pt idx="39">
                  <c:v>245.8</c:v>
                </c:pt>
                <c:pt idx="40">
                  <c:v>254.1</c:v>
                </c:pt>
                <c:pt idx="41">
                  <c:v>253.8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EWT: 50% of Dec ’22 (120.0)</c:v>
                </c:pt>
              </c:strCache>
            </c:strRef>
          </c:tx>
          <c:spPr>
            <a:ln w="22225">
              <a:solidFill>
                <a:srgbClr val="D98E04"/>
              </a:solidFill>
              <a:prstDash val="dash"/>
            </a:ln>
          </c:spPr>
          <c:marker>
            <c:symbol val="none"/>
          </c:marker>
          <c:cat>
            <c:strRef>
              <c:f>Sheet1!$A$2:$A$43</c:f>
              <c:strCache>
                <c:ptCount val="42"/>
                <c:pt idx="0">
                  <c:v>31 Dec</c:v>
                </c:pt>
                <c:pt idx="1">
                  <c:v>03 Jan</c:v>
                </c:pt>
                <c:pt idx="2">
                  <c:v>04 Jan</c:v>
                </c:pt>
                <c:pt idx="3">
                  <c:v>05 Jan</c:v>
                </c:pt>
                <c:pt idx="4">
                  <c:v>06 Jan</c:v>
                </c:pt>
                <c:pt idx="5">
                  <c:v>09 Jan</c:v>
                </c:pt>
                <c:pt idx="6">
                  <c:v>10 Jan</c:v>
                </c:pt>
                <c:pt idx="7">
                  <c:v>11 Jan</c:v>
                </c:pt>
                <c:pt idx="8">
                  <c:v>12 Jan</c:v>
                </c:pt>
                <c:pt idx="9">
                  <c:v>13 Jan</c:v>
                </c:pt>
                <c:pt idx="10">
                  <c:v>16 Jan</c:v>
                </c:pt>
                <c:pt idx="11">
                  <c:v>17 Jan</c:v>
                </c:pt>
                <c:pt idx="12">
                  <c:v>18 Jan</c:v>
                </c:pt>
                <c:pt idx="13">
                  <c:v>19 Jan</c:v>
                </c:pt>
                <c:pt idx="14">
                  <c:v>20 Jan</c:v>
                </c:pt>
                <c:pt idx="15">
                  <c:v>23 Jan</c:v>
                </c:pt>
                <c:pt idx="16">
                  <c:v>24 Jan</c:v>
                </c:pt>
                <c:pt idx="17">
                  <c:v>25 Jan</c:v>
                </c:pt>
                <c:pt idx="18">
                  <c:v>26 Jan</c:v>
                </c:pt>
                <c:pt idx="19">
                  <c:v>27 Jan</c:v>
                </c:pt>
                <c:pt idx="20">
                  <c:v>30 Jan</c:v>
                </c:pt>
                <c:pt idx="21">
                  <c:v>31 Jan</c:v>
                </c:pt>
                <c:pt idx="22">
                  <c:v>01 Feb</c:v>
                </c:pt>
                <c:pt idx="23">
                  <c:v>02 Feb</c:v>
                </c:pt>
                <c:pt idx="24">
                  <c:v>03 Feb</c:v>
                </c:pt>
                <c:pt idx="25">
                  <c:v>06 Feb</c:v>
                </c:pt>
                <c:pt idx="26">
                  <c:v>07 Feb</c:v>
                </c:pt>
                <c:pt idx="27">
                  <c:v>08 Feb</c:v>
                </c:pt>
                <c:pt idx="28">
                  <c:v>09 Feb</c:v>
                </c:pt>
                <c:pt idx="29">
                  <c:v>10 Feb</c:v>
                </c:pt>
                <c:pt idx="30">
                  <c:v>13 Feb</c:v>
                </c:pt>
                <c:pt idx="31">
                  <c:v>14 Feb</c:v>
                </c:pt>
                <c:pt idx="32">
                  <c:v>15 Feb</c:v>
                </c:pt>
                <c:pt idx="33">
                  <c:v>16 Feb</c:v>
                </c:pt>
                <c:pt idx="34">
                  <c:v>17 Feb</c:v>
                </c:pt>
                <c:pt idx="35">
                  <c:v>20 Feb</c:v>
                </c:pt>
                <c:pt idx="36">
                  <c:v>21 Feb</c:v>
                </c:pt>
                <c:pt idx="37">
                  <c:v>22 Feb</c:v>
                </c:pt>
                <c:pt idx="38">
                  <c:v>23 Feb</c:v>
                </c:pt>
                <c:pt idx="39">
                  <c:v>24 Feb</c:v>
                </c:pt>
                <c:pt idx="40">
                  <c:v>27 Feb</c:v>
                </c:pt>
                <c:pt idx="41">
                  <c:v>28 Feb</c:v>
                </c:pt>
              </c:strCache>
            </c:strRef>
          </c:cat>
          <c:val>
            <c:numRef>
              <c:f>Sheet1!$D$2:$D$43</c:f>
              <c:numCache>
                <c:formatCode>General</c:formatCode>
                <c:ptCount val="42"/>
                <c:pt idx="0">
                  <c:v>120.0</c:v>
                </c:pt>
                <c:pt idx="1">
                  <c:v>120.0</c:v>
                </c:pt>
                <c:pt idx="2">
                  <c:v>120.0</c:v>
                </c:pt>
                <c:pt idx="3">
                  <c:v>120.0</c:v>
                </c:pt>
                <c:pt idx="4">
                  <c:v>120.0</c:v>
                </c:pt>
                <c:pt idx="5">
                  <c:v>120.0</c:v>
                </c:pt>
                <c:pt idx="6">
                  <c:v>120.0</c:v>
                </c:pt>
                <c:pt idx="7">
                  <c:v>120.0</c:v>
                </c:pt>
                <c:pt idx="8">
                  <c:v>120.0</c:v>
                </c:pt>
                <c:pt idx="9">
                  <c:v>120.0</c:v>
                </c:pt>
                <c:pt idx="10">
                  <c:v>120.0</c:v>
                </c:pt>
                <c:pt idx="11">
                  <c:v>120.0</c:v>
                </c:pt>
                <c:pt idx="12">
                  <c:v>120.0</c:v>
                </c:pt>
                <c:pt idx="13">
                  <c:v>120.0</c:v>
                </c:pt>
                <c:pt idx="14">
                  <c:v>120.0</c:v>
                </c:pt>
                <c:pt idx="15">
                  <c:v>120.0</c:v>
                </c:pt>
                <c:pt idx="16">
                  <c:v>120.0</c:v>
                </c:pt>
                <c:pt idx="17">
                  <c:v>120.0</c:v>
                </c:pt>
                <c:pt idx="18">
                  <c:v>120.0</c:v>
                </c:pt>
                <c:pt idx="19">
                  <c:v>120.0</c:v>
                </c:pt>
                <c:pt idx="20">
                  <c:v>120.0</c:v>
                </c:pt>
                <c:pt idx="21">
                  <c:v>120.0</c:v>
                </c:pt>
                <c:pt idx="22">
                  <c:v>120.0</c:v>
                </c:pt>
                <c:pt idx="23">
                  <c:v>120.0</c:v>
                </c:pt>
                <c:pt idx="24">
                  <c:v>120.0</c:v>
                </c:pt>
                <c:pt idx="25">
                  <c:v>120.0</c:v>
                </c:pt>
                <c:pt idx="26">
                  <c:v>120.0</c:v>
                </c:pt>
                <c:pt idx="27">
                  <c:v>120.0</c:v>
                </c:pt>
                <c:pt idx="28">
                  <c:v>120.0</c:v>
                </c:pt>
                <c:pt idx="29">
                  <c:v>120.0</c:v>
                </c:pt>
                <c:pt idx="30">
                  <c:v>120.0</c:v>
                </c:pt>
                <c:pt idx="31">
                  <c:v>120.0</c:v>
                </c:pt>
                <c:pt idx="32">
                  <c:v>120.0</c:v>
                </c:pt>
                <c:pt idx="33">
                  <c:v>120.0</c:v>
                </c:pt>
                <c:pt idx="34">
                  <c:v>120.0</c:v>
                </c:pt>
                <c:pt idx="35">
                  <c:v>120.0</c:v>
                </c:pt>
                <c:pt idx="36">
                  <c:v>120.0</c:v>
                </c:pt>
                <c:pt idx="37">
                  <c:v>120.0</c:v>
                </c:pt>
                <c:pt idx="38">
                  <c:v>120.0</c:v>
                </c:pt>
                <c:pt idx="39">
                  <c:v>120.0</c:v>
                </c:pt>
                <c:pt idx="40">
                  <c:v>120.0</c:v>
                </c:pt>
                <c:pt idx="41">
                  <c:v>120.0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low"/>
        <c:spPr>
          <a:ln>
            <a:solidFill>
              <a:srgbClr val="A6B1C2"/>
            </a:solidFill>
          </a:ln>
        </c:spPr>
        <c:txPr>
          <a:bodyPr/>
          <a:lstStyle/>
          <a:p>
            <a:pPr>
              <a:defRPr sz="1100"/>
            </a:pPr>
          </a:p>
        </c:txPr>
        <c:crossAx val="2140495176"/>
        <c:crosses val="autoZero"/>
        <c:auto val="1"/>
        <c:lblAlgn val="ctr"/>
        <c:lblOffset val="100"/>
        <c:tickLblSkip val="5"/>
        <c:tickMarkSkip val="5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DE2EA"/>
              </a:solidFill>
            </a:ln>
          </c:spPr>
        </c:majorGridlines>
        <c:numFmt formatCode="#,##0;(#,##0)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222B38"/>
          </a:solidFill>
          <a:latin typeface="Arial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16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305" y="4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16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 txBox="1">
            <a:spLocks noGrp="1"/>
          </p:cNvSpPr>
          <p:nvPr>
            <p:ph type="sldNum" idx="12"/>
          </p:nvPr>
        </p:nvSpPr>
        <p:spPr>
          <a:xfrm>
            <a:off x="3854450" y="9445625"/>
            <a:ext cx="2949575" cy="496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:notes"/>
          <p:cNvSpPr txBox="1"/>
          <p:nvPr/>
        </p:nvSpPr>
        <p:spPr>
          <a:xfrm>
            <a:off x="3854450" y="9444038"/>
            <a:ext cx="2949575" cy="4984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3663" y="749300"/>
            <a:ext cx="6623050" cy="372586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" name="Google Shape;35;p1:notes"/>
          <p:cNvSpPr txBox="1">
            <a:spLocks noGrp="1"/>
          </p:cNvSpPr>
          <p:nvPr>
            <p:ph type="body" idx="1"/>
          </p:nvPr>
        </p:nvSpPr>
        <p:spPr>
          <a:xfrm>
            <a:off x="681038" y="4722813"/>
            <a:ext cx="5445125" cy="4473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950" tIns="45475" rIns="90950" bIns="454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2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2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" name="Google Shape;47;p3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3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8350"/>
            <a:ext cx="6823075" cy="3838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4:notes"/>
          <p:cNvSpPr txBox="1">
            <a:spLocks noGrp="1"/>
          </p:cNvSpPr>
          <p:nvPr>
            <p:ph type="body" idx="1"/>
          </p:nvPr>
        </p:nvSpPr>
        <p:spPr>
          <a:xfrm>
            <a:off x="709931" y="4861443"/>
            <a:ext cx="5679440" cy="46055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:notes"/>
          <p:cNvSpPr txBox="1">
            <a:spLocks noGrp="1"/>
          </p:cNvSpPr>
          <p:nvPr>
            <p:ph type="sldNum" idx="12"/>
          </p:nvPr>
        </p:nvSpPr>
        <p:spPr>
          <a:xfrm>
            <a:off x="4021305" y="9721112"/>
            <a:ext cx="3076364" cy="511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375" tIns="48175" rIns="96375" bIns="4817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Title Slide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6"/>
          <p:cNvGrpSpPr/>
          <p:nvPr/>
        </p:nvGrpSpPr>
        <p:grpSpPr>
          <a:xfrm>
            <a:off x="280446" y="687258"/>
            <a:ext cx="11587156" cy="586078"/>
            <a:chOff x="215900" y="1382939"/>
            <a:chExt cx="6998377" cy="430678"/>
          </a:xfrm>
        </p:grpSpPr>
        <p:sp>
          <p:nvSpPr>
            <p:cNvPr id="19" name="Google Shape;19;p6"/>
            <p:cNvSpPr/>
            <p:nvPr/>
          </p:nvSpPr>
          <p:spPr>
            <a:xfrm>
              <a:off x="215900" y="1382940"/>
              <a:ext cx="585009" cy="430326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6"/>
            <p:cNvSpPr/>
            <p:nvPr/>
          </p:nvSpPr>
          <p:spPr>
            <a:xfrm rot="10800000">
              <a:off x="774827" y="1382939"/>
              <a:ext cx="6439450" cy="430678"/>
            </a:xfrm>
            <a:custGeom>
              <a:avLst/>
              <a:gdLst/>
              <a:ahLst/>
              <a:cxnLst/>
              <a:rect l="l" t="t" r="r" b="b"/>
              <a:pathLst>
                <a:path w="8064578" h="300814" extrusionOk="0">
                  <a:moveTo>
                    <a:pt x="28" y="246"/>
                  </a:moveTo>
                  <a:cubicBezTo>
                    <a:pt x="2126" y="-555"/>
                    <a:pt x="5376395" y="833"/>
                    <a:pt x="8064578" y="1127"/>
                  </a:cubicBezTo>
                  <a:lnTo>
                    <a:pt x="7919436" y="154759"/>
                  </a:lnTo>
                  <a:lnTo>
                    <a:pt x="8064578" y="300814"/>
                  </a:lnTo>
                  <a:lnTo>
                    <a:pt x="0" y="299269"/>
                  </a:lnTo>
                  <a:cubicBezTo>
                    <a:pt x="1058" y="203607"/>
                    <a:pt x="14" y="149757"/>
                    <a:pt x="28" y="24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2" name="Google Shape;22;p6"/>
          <p:cNvCxnSpPr/>
          <p:nvPr/>
        </p:nvCxnSpPr>
        <p:spPr>
          <a:xfrm>
            <a:off x="271951" y="3152910"/>
            <a:ext cx="7843073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6"/>
          <p:cNvSpPr/>
          <p:nvPr/>
        </p:nvSpPr>
        <p:spPr>
          <a:xfrm>
            <a:off x="306235" y="5864983"/>
            <a:ext cx="10660185" cy="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" name="Google Shape;24;p6"/>
          <p:cNvGrpSpPr/>
          <p:nvPr/>
        </p:nvGrpSpPr>
        <p:grpSpPr>
          <a:xfrm>
            <a:off x="274785" y="5904672"/>
            <a:ext cx="11625520" cy="46038"/>
            <a:chOff x="-540381" y="5887508"/>
            <a:chExt cx="9457729" cy="46038"/>
          </a:xfrm>
        </p:grpSpPr>
        <p:sp>
          <p:nvSpPr>
            <p:cNvPr id="25" name="Google Shape;25;p6"/>
            <p:cNvSpPr/>
            <p:nvPr/>
          </p:nvSpPr>
          <p:spPr>
            <a:xfrm>
              <a:off x="-540381" y="5887508"/>
              <a:ext cx="8074126" cy="46038"/>
            </a:xfrm>
            <a:custGeom>
              <a:avLst/>
              <a:gdLst/>
              <a:ahLst/>
              <a:cxnLst/>
              <a:rect l="l" t="t" r="r" b="b"/>
              <a:pathLst>
                <a:path w="7638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7638" y="0"/>
                  </a:lnTo>
                </a:path>
              </a:pathLst>
            </a:custGeom>
            <a:noFill/>
            <a:ln w="90475" cap="flat" cmpd="sng">
              <a:solidFill>
                <a:srgbClr val="63666A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6"/>
            <p:cNvSpPr/>
            <p:nvPr/>
          </p:nvSpPr>
          <p:spPr>
            <a:xfrm>
              <a:off x="7639574" y="5887827"/>
              <a:ext cx="1277774" cy="45719"/>
            </a:xfrm>
            <a:custGeom>
              <a:avLst/>
              <a:gdLst/>
              <a:ahLst/>
              <a:cxnLst/>
              <a:rect l="l" t="t" r="r" b="b"/>
              <a:pathLst>
                <a:path w="1357" h="120000" extrusionOk="0">
                  <a:moveTo>
                    <a:pt x="0" y="0"/>
                  </a:moveTo>
                  <a:lnTo>
                    <a:pt x="0" y="0"/>
                  </a:lnTo>
                  <a:lnTo>
                    <a:pt x="1357" y="0"/>
                  </a:lnTo>
                </a:path>
              </a:pathLst>
            </a:custGeom>
            <a:solidFill>
              <a:srgbClr val="002D72"/>
            </a:solidFill>
            <a:ln w="90475" cap="flat" cmpd="sng">
              <a:solidFill>
                <a:srgbClr val="002D72"/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" name="Google Shape;27;p6"/>
          <p:cNvSpPr txBox="1">
            <a:spLocks noGrp="1"/>
          </p:cNvSpPr>
          <p:nvPr>
            <p:ph type="body" idx="1"/>
          </p:nvPr>
        </p:nvSpPr>
        <p:spPr>
          <a:xfrm>
            <a:off x="271053" y="2388261"/>
            <a:ext cx="7843073" cy="58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800"/>
              <a:buNone/>
              <a:defRPr sz="38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784307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  <a:defRPr sz="20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3600"/>
              <a:buNone/>
              <a:defRPr sz="3600">
                <a:solidFill>
                  <a:srgbClr val="65656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"/>
          <p:cNvGrpSpPr/>
          <p:nvPr/>
        </p:nvGrpSpPr>
        <p:grpSpPr>
          <a:xfrm>
            <a:off x="289968" y="539749"/>
            <a:ext cx="11587808" cy="460800"/>
            <a:chOff x="215900" y="1382736"/>
            <a:chExt cx="9418637" cy="458544"/>
          </a:xfrm>
        </p:grpSpPr>
        <p:sp>
          <p:nvSpPr>
            <p:cNvPr id="11" name="Google Shape;11;p5"/>
            <p:cNvSpPr/>
            <p:nvPr/>
          </p:nvSpPr>
          <p:spPr>
            <a:xfrm>
              <a:off x="215900" y="1382939"/>
              <a:ext cx="585009" cy="457327"/>
            </a:xfrm>
            <a:prstGeom prst="homePlate">
              <a:avLst>
                <a:gd name="adj" fmla="val 33648"/>
              </a:avLst>
            </a:prstGeom>
            <a:solidFill>
              <a:srgbClr val="002D7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5"/>
            <p:cNvSpPr/>
            <p:nvPr/>
          </p:nvSpPr>
          <p:spPr>
            <a:xfrm rot="10800000">
              <a:off x="781049" y="1382736"/>
              <a:ext cx="8853488" cy="458544"/>
            </a:xfrm>
            <a:custGeom>
              <a:avLst/>
              <a:gdLst/>
              <a:ahLst/>
              <a:cxnLst/>
              <a:rect l="l" t="t" r="r" b="b"/>
              <a:pathLst>
                <a:path w="8064578" h="300568" extrusionOk="0">
                  <a:moveTo>
                    <a:pt x="28" y="0"/>
                  </a:moveTo>
                  <a:cubicBezTo>
                    <a:pt x="-2061" y="71"/>
                    <a:pt x="5376395" y="587"/>
                    <a:pt x="8064578" y="881"/>
                  </a:cubicBezTo>
                  <a:lnTo>
                    <a:pt x="7941669" y="150744"/>
                  </a:lnTo>
                  <a:lnTo>
                    <a:pt x="8064578" y="300568"/>
                  </a:lnTo>
                  <a:lnTo>
                    <a:pt x="0" y="297393"/>
                  </a:lnTo>
                  <a:cubicBezTo>
                    <a:pt x="1058" y="201731"/>
                    <a:pt x="2117" y="-71"/>
                    <a:pt x="2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rgbClr val="F7830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13;p5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body" idx="1"/>
          </p:nvPr>
        </p:nvSpPr>
        <p:spPr>
          <a:xfrm>
            <a:off x="806939" y="1125538"/>
            <a:ext cx="11074400" cy="5040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•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–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79400" algn="l" rtl="0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Char char="‒"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"/>
          <p:cNvSpPr txBox="1">
            <a:spLocks noGrp="1"/>
          </p:cNvSpPr>
          <p:nvPr>
            <p:ph type="body" idx="2"/>
          </p:nvPr>
        </p:nvSpPr>
        <p:spPr>
          <a:xfrm>
            <a:off x="288500" y="3292242"/>
            <a:ext cx="11560600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800"/>
              <a:buNone/>
            </a:pPr>
            <a:r>
              <a:rPr lang="en-GB" sz="2800" b="1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Monthly Limits &amp; Deposits Tracking Report</a:t>
            </a:r>
            <a:endParaRPr sz="2800" b="1">
              <a:solidFill>
                <a:srgbClr val="002D72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2000"/>
              <a:buNone/>
            </a:pPr>
            <a:r>
              <a:rPr lang="en-GB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Citi Finance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2D72"/>
              </a:buClr>
              <a:buSzPts val="1800"/>
              <a:buNone/>
            </a:pPr>
            <a:r>
              <a:rPr lang="en-GB" sz="1800">
                <a:solidFill>
                  <a:srgbClr val="002D72"/>
                </a:solidFill>
                <a:latin typeface="Arial"/>
                <a:ea typeface="Arial"/>
                <a:cs typeface="Arial"/>
                <a:sym typeface="Arial"/>
              </a:rPr>
              <a:t>March 2023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56565"/>
              </a:buClr>
              <a:buSzPts val="2000"/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Introduction: scope, triggers and headline results</a:t>
            </a:r>
            <a:endParaRPr sz="2000"/>
          </a:p>
        </p:txBody>
      </p:sp>
      <p:sp>
        <p:nvSpPr>
          <p:cNvPr id="44" name="Scope"/>
          <p:cNvSpPr/>
          <p:nvPr/>
        </p:nvSpPr>
        <p:spPr>
          <a:xfrm>
            <a:off x="457200" y="1371600"/>
            <a:ext cx="4846320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Scope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Daily deposits and loans for Entities 1, 2 and 3, 31 Dec ’22 baseline to 28 Feb ’23 ($m).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Early Warning Triggers (EWT)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Deposits fall &gt;3% in a day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Loans rise &gt;5% in a day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Loans exceed 150% of Dec ’22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below 50% of Dec ’22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Management Action Trigger (MAT)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below zero</a:t>
            </a:r>
          </a:p>
          <a:p>
            <a:pPr algn="l">
              <a:spcAft>
                <a:spcPts val="5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Definitions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= deposits – loans. Stressed surplus = 90% × deposits – 120% × loans.</a:t>
            </a:r>
          </a:p>
        </p:txBody>
      </p:sp>
      <p:sp>
        <p:nvSpPr>
          <p:cNvPr id="45" name="Status 1"/>
          <p:cNvSpPr/>
          <p:nvPr/>
        </p:nvSpPr>
        <p:spPr>
          <a:xfrm>
            <a:off x="5577840" y="1371600"/>
            <a:ext cx="6153912" cy="1508760"/>
          </a:xfrm>
          <a:prstGeom prst="rect">
            <a:avLst/>
          </a:prstGeom>
          <a:solidFill>
            <a:srgbClr val="F8D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D72"/>
                </a:solidFill>
                <a:latin typeface="Arial"/>
              </a:rPr>
              <a:t>Entity 1: MAT breach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negative on 10 straight days from 15 Feb, reaching $(19.1)m on 28 Feb. All four EWTs breached.</a:t>
            </a:r>
          </a:p>
        </p:txBody>
      </p:sp>
      <p:sp>
        <p:nvSpPr>
          <p:cNvPr id="46" name="Status 2"/>
          <p:cNvSpPr/>
          <p:nvPr/>
        </p:nvSpPr>
        <p:spPr>
          <a:xfrm>
            <a:off x="5577840" y="3017520"/>
            <a:ext cx="6153912" cy="1508760"/>
          </a:xfrm>
          <a:prstGeom prst="rect">
            <a:avLst/>
          </a:prstGeom>
          <a:solidFill>
            <a:srgbClr val="FFF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D72"/>
                </a:solidFill>
                <a:latin typeface="Arial"/>
              </a:rPr>
              <a:t>Entity 2: EWT breaches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Three of four EWTs breached. Surplus fell 50% to $32.4m, just under the $32.5m limit on 28 Feb.</a:t>
            </a:r>
          </a:p>
        </p:txBody>
      </p:sp>
      <p:sp>
        <p:nvSpPr>
          <p:cNvPr id="47" name="Status 3"/>
          <p:cNvSpPr/>
          <p:nvPr/>
        </p:nvSpPr>
        <p:spPr>
          <a:xfrm>
            <a:off x="5577840" y="4663440"/>
            <a:ext cx="6153912" cy="1508760"/>
          </a:xfrm>
          <a:prstGeom prst="rect">
            <a:avLst/>
          </a:prstGeom>
          <a:solidFill>
            <a:srgbClr val="E3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2D72"/>
                </a:solidFill>
                <a:latin typeface="Arial"/>
              </a:rPr>
              <a:t>Entity 3: isolated EWT breaches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Daily deposit and loan moves only. Surplus up 19% to $286.3m, well clear of all limits.</a:t>
            </a:r>
          </a:p>
        </p:txBody>
      </p:sp>
      <p:sp>
        <p:nvSpPr>
          <p:cNvPr id="48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positions, 31 Dec ’22 to 28 Feb ’23 ($m); Citi Finance analysis.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EWT breaches in all entities, most severe in Entity 1</a:t>
            </a:r>
            <a:endParaRPr sz="2000"/>
          </a:p>
        </p:txBody>
      </p:sp>
      <p:graphicFrame>
        <p:nvGraphicFramePr>
          <p:cNvPr id="51" name="EWT breaches"/>
          <p:cNvGraphicFramePr>
            <a:graphicFrameLocks noGrp="1"/>
          </p:cNvGraphicFramePr>
          <p:nvPr/>
        </p:nvGraphicFramePr>
        <p:xfrm>
          <a:off x="457200" y="1371600"/>
          <a:ext cx="11274552" cy="39319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651760"/>
                <a:gridCol w="2880360"/>
                <a:gridCol w="2880360"/>
                <a:gridCol w="2862072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Early Warning Trigger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Arial"/>
                        </a:rPr>
                        <a:t>Entity 3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Deposits fall &gt;3% in a day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3 days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Worst (5.0%): 20 Jan, 2 Feb, 28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2 days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Worst (4.0%): 24 Jan, 28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1 day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(4.0%): 20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Loans rise &gt;5% in a day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2 days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Worst +8.0%: 13 Feb (also +6.0%, 6 Jan)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4 days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Worst +8.0%: 17 Feb (+6.0% on 3 other days)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2 days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Worst +8.0%: 2 Feb (also +6.0%, 14 Feb)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Loans above 150% of Dec ’22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2 days: 27 and 28 Feb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Peak $112.1m, +60.1% (limit $105.0m)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No breach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Peak $69.9m, +39.8% (limit $75.0m)</a:t>
                      </a:r>
                    </a:p>
                  </a:txBody>
                  <a:tcPr anchor="ctr" marL="91440" marR="91440" marT="36576" marB="36576">
                    <a:solidFill>
                      <a:srgbClr val="E3F1E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No breach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Peak $13.2m, +31.9% (limit $15.0m)</a:t>
                      </a:r>
                    </a:p>
                  </a:txBody>
                  <a:tcPr anchor="ctr" marL="91440" marR="91440" marT="36576" marB="36576">
                    <a:solidFill>
                      <a:srgbClr val="E3F1E4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Surplus below 50% of Dec ’22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19 days from 2 Feb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Low $(19.1)m vs $15.0m limit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1 day: 28 Feb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$32.4m vs $32.5m limit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222B38"/>
                          </a:solidFill>
                          <a:latin typeface="Arial"/>
                        </a:rPr>
                        <a:t>No breach</a:t>
                      </a:r>
                    </a:p>
                    <a:p>
                      <a:pPr algn="l"/>
                      <a:r>
                        <a:rPr sz="1200" b="0">
                          <a:solidFill>
                            <a:srgbClr val="222B38"/>
                          </a:solidFill>
                          <a:latin typeface="Arial"/>
                        </a:rPr>
                        <a:t>Low $229.5m vs $120.0m limit</a:t>
                      </a:r>
                    </a:p>
                  </a:txBody>
                  <a:tcPr anchor="ctr" marL="91440" marR="91440" marT="36576" marB="36576">
                    <a:solidFill>
                      <a:srgbClr val="E3F1E4"/>
                    </a:solidFill>
                  </a:tcPr>
                </a:tc>
              </a:tr>
            </a:tbl>
          </a:graphicData>
        </a:graphic>
      </p:graphicFrame>
      <p:sp>
        <p:nvSpPr>
          <p:cNvPr id="52" name="Takeaway"/>
          <p:cNvSpPr/>
          <p:nvPr/>
        </p:nvSpPr>
        <p:spPr>
          <a:xfrm>
            <a:off x="457200" y="5486400"/>
            <a:ext cx="11274552" cy="59436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Entity 1 breached all four EWTs; </a:t>
            </a:r>
            <a:r>
              <a:rPr sz="1400" b="0">
                <a:solidFill>
                  <a:srgbClr val="FFFFFF"/>
                </a:solidFill>
                <a:latin typeface="Arial"/>
              </a:rPr>
              <a:t>Entity 2 is at the surplus limit; Entity 3’s breaches are single-day moves.</a:t>
            </a:r>
          </a:p>
        </p:txBody>
      </p:sp>
      <p:sp>
        <p:nvSpPr>
          <p:cNvPr id="53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 ($m); Citi Finance analysis. Moves of exactly 3.0% (deposits) or 5.0% (loans) are at, not beyond, the limit and are not counted.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 txBox="1">
            <a:spLocks noGrp="1"/>
          </p:cNvSpPr>
          <p:nvPr>
            <p:ph type="title"/>
          </p:nvPr>
        </p:nvSpPr>
        <p:spPr>
          <a:xfrm>
            <a:off x="1398954" y="555660"/>
            <a:ext cx="9581161" cy="432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GB"/>
              <a:t>MAT: Entity 1 surplus negative on 10 days since 15 Feb</a:t>
            </a:r>
            <a:endParaRPr sz="2000"/>
          </a:p>
        </p:txBody>
      </p:sp>
      <p:graphicFrame>
        <p:nvGraphicFramePr>
          <p:cNvPr id="60" name="MAT breaches"/>
          <p:cNvGraphicFramePr>
            <a:graphicFrameLocks noGrp="1"/>
          </p:cNvGraphicFramePr>
          <p:nvPr/>
        </p:nvGraphicFramePr>
        <p:xfrm>
          <a:off x="457200" y="1371600"/>
          <a:ext cx="6217920" cy="4069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097280"/>
                <a:gridCol w="1463040"/>
                <a:gridCol w="1737360"/>
                <a:gridCol w="19202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Surplus ($m)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Below zero by ($m)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Stressed surplus ($m)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15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(2.5)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(30.1)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16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(2.5)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2.5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(30.1)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17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(4.4)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4.4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(33.0)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20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(1.6)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1.6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(30.5)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21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3.5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(32.2)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22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(11.1)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11.1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(40.5)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23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(12.4)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12.4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(42.5)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24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(9.6)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9.6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(40.0)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27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(10.9)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10.9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(42.5)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28 Feb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(19.1)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19.1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(50.8)</a:t>
                      </a:r>
                    </a:p>
                  </a:txBody>
                  <a:tcPr anchor="ctr" marL="91440" marR="91440" marT="36576" marB="36576">
                    <a:solidFill>
                      <a:srgbClr val="F8D7DB"/>
                    </a:solidFill>
                  </a:tcPr>
                </a:tc>
              </a:tr>
            </a:tbl>
          </a:graphicData>
        </a:graphic>
      </p:graphicFrame>
      <p:sp>
        <p:nvSpPr>
          <p:cNvPr id="61" name="Comments"/>
          <p:cNvSpPr/>
          <p:nvPr/>
        </p:nvSpPr>
        <p:spPr>
          <a:xfrm>
            <a:off x="6949440" y="1371600"/>
            <a:ext cx="4782312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Level of breach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first went negative on 15 Feb ($(2.5)m) and has not recovered; the deficit widened to $(19.1)m on 28 Feb.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A $49.1m swing from the $30.0m surplus at Dec ’22.</a:t>
            </a:r>
          </a:p>
          <a:p>
            <a:pPr algn="l">
              <a:spcAft>
                <a:spcPts val="6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Drivers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Loans up $42.1m (+60.1%) to $112.1m, while deposits fell $7.1m (7.1%) to $93.0m.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Entities 2 and 3 are not in MAT: surplus stays positive.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positions, 31 Dec ’22 to 28 Feb ’23 ($m); Citi Finance analysis.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1: surplus and stressed surplus turn negative</a:t>
            </a:r>
          </a:p>
        </p:txBody>
      </p:sp>
      <p:graphicFrame>
        <p:nvGraphicFramePr>
          <p:cNvPr id="3" name="Entity 1: surplus and stressed surplus ($m)"/>
          <p:cNvGraphicFramePr>
            <a:graphicFrameLocks noGrp="1"/>
          </p:cNvGraphicFramePr>
          <p:nvPr/>
        </p:nvGraphicFramePr>
        <p:xfrm>
          <a:off x="457200" y="1371600"/>
          <a:ext cx="73152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Comments"/>
          <p:cNvSpPr/>
          <p:nvPr/>
        </p:nvSpPr>
        <p:spPr>
          <a:xfrm>
            <a:off x="7955279" y="1371600"/>
            <a:ext cx="3776472" cy="48463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What the chart shows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Surplus fell from $30.0m to $(19.1)m: below the EWT level ($15.0m) on 2 Feb and below the MAT level (zero) from 15 Feb.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Stressed surplus has been negative since 19 Jan, ending at $(50.8)m.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Steady loan growth (+60.1%) and deposit outflows (7.1%) drive the decline.</a:t>
            </a:r>
          </a:p>
        </p:txBody>
      </p:sp>
      <p:sp>
        <p:nvSpPr>
          <p:cNvPr id="5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positions, 31 Dec ’22 to 28 Feb ’23 ($m); Citi Finance analysis.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Entity 2 surplus has halved; Entity 3 remains strong</a:t>
            </a:r>
          </a:p>
        </p:txBody>
      </p:sp>
      <p:graphicFrame>
        <p:nvGraphicFramePr>
          <p:cNvPr id="3" name="Entity 2: surplus and stressed surplus ($m)"/>
          <p:cNvGraphicFramePr>
            <a:graphicFrameLocks noGrp="1"/>
          </p:cNvGraphicFramePr>
          <p:nvPr/>
        </p:nvGraphicFramePr>
        <p:xfrm>
          <a:off x="457200" y="1371600"/>
          <a:ext cx="5532120" cy="3566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4" name="Entity 3: surplus and stressed surplus ($m)"/>
          <p:cNvGraphicFramePr>
            <a:graphicFrameLocks noGrp="1"/>
          </p:cNvGraphicFramePr>
          <p:nvPr/>
        </p:nvGraphicFramePr>
        <p:xfrm>
          <a:off x="6199632" y="1371600"/>
          <a:ext cx="5532120" cy="35661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Entity 2 comments"/>
          <p:cNvSpPr/>
          <p:nvPr/>
        </p:nvSpPr>
        <p:spPr>
          <a:xfrm>
            <a:off x="457200" y="5074920"/>
            <a:ext cx="5532120" cy="1188720"/>
          </a:xfrm>
          <a:prstGeom prst="rect">
            <a:avLst/>
          </a:prstGeom>
          <a:solidFill>
            <a:srgbClr val="FFF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6012" bIns="9601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8"/>
                </a:solidFill>
                <a:latin typeface="Arial"/>
              </a:rPr>
              <a:t>Surplus fell from $65.0m to $32.4m (50.1%); on 28 Feb it was $0.1m under the $32.5m EWT level. Stressed surplus fell 78.7% to $9.3m, still positive.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8"/>
                </a:solidFill>
                <a:latin typeface="Arial"/>
              </a:rPr>
              <a:t>Deposits down 14.1%, loans up 32.8%.</a:t>
            </a:r>
          </a:p>
        </p:txBody>
      </p:sp>
      <p:sp>
        <p:nvSpPr>
          <p:cNvPr id="6" name="Entity 3 comments"/>
          <p:cNvSpPr/>
          <p:nvPr/>
        </p:nvSpPr>
        <p:spPr>
          <a:xfrm>
            <a:off x="6199632" y="5074920"/>
            <a:ext cx="5532120" cy="1188720"/>
          </a:xfrm>
          <a:prstGeom prst="rect">
            <a:avLst/>
          </a:prstGeom>
          <a:solidFill>
            <a:srgbClr val="E3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37160" tIns="96012" bIns="96012"/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8"/>
                </a:solidFill>
                <a:latin typeface="Arial"/>
              </a:rPr>
              <a:t>Surplus up 19.3% to $286.3m (low $229.5m on 20 Jan), far above the $120.0m EWT level. Stressed surplus $253.8m.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222B38"/>
                </a:solidFill>
                <a:latin typeface="Arial"/>
              </a:rPr>
              <a:t>Deposits up 19.6%; loans up 27.8% from a small base ($12.8m).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positions, 31 Dec ’22 to 28 Feb ’23 ($m); Citi Finance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actions for the Treasurer team and CFO</a:t>
            </a:r>
          </a:p>
        </p:txBody>
      </p:sp>
      <p:sp>
        <p:nvSpPr>
          <p:cNvPr id="3" name="Actions Entity 1"/>
          <p:cNvSpPr/>
          <p:nvPr/>
        </p:nvSpPr>
        <p:spPr>
          <a:xfrm>
            <a:off x="457200" y="1371600"/>
            <a:ext cx="3605784" cy="3840480"/>
          </a:xfrm>
          <a:prstGeom prst="rect">
            <a:avLst/>
          </a:prstGeom>
          <a:solidFill>
            <a:srgbClr val="F8D7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2D72"/>
                </a:solidFill>
                <a:latin typeface="Arial"/>
              </a:rPr>
              <a:t>Entity 1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C8102E"/>
                </a:solidFill>
                <a:latin typeface="Arial"/>
              </a:rPr>
              <a:t>Escalate now (MAT)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Review loan growth of $42.1m since Dec ’22 and consider limiting new lending.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Review the drivers of the $7.1m deposit outflow and the plan to restore a positive surplus.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Report progress against the $(19.1)m deficit daily.</a:t>
            </a:r>
          </a:p>
        </p:txBody>
      </p:sp>
      <p:sp>
        <p:nvSpPr>
          <p:cNvPr id="4" name="Actions Entity 2"/>
          <p:cNvSpPr/>
          <p:nvPr/>
        </p:nvSpPr>
        <p:spPr>
          <a:xfrm>
            <a:off x="4291584" y="1371600"/>
            <a:ext cx="3605784" cy="3840480"/>
          </a:xfrm>
          <a:prstGeom prst="rect">
            <a:avLst/>
          </a:prstGeom>
          <a:solidFill>
            <a:srgbClr val="FFF0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2D72"/>
                </a:solidFill>
                <a:latin typeface="Arial"/>
              </a:rPr>
              <a:t>Entity 2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Act before MAT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Surplus is at the EWT limit and still falling; agree a response plan before it reaches zero.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Review the four loan jumps of more than 5% and the deposit outflows.</a:t>
            </a:r>
          </a:p>
        </p:txBody>
      </p:sp>
      <p:sp>
        <p:nvSpPr>
          <p:cNvPr id="5" name="Actions Entity 3"/>
          <p:cNvSpPr/>
          <p:nvPr/>
        </p:nvSpPr>
        <p:spPr>
          <a:xfrm>
            <a:off x="8125968" y="1371600"/>
            <a:ext cx="3605784" cy="3840480"/>
          </a:xfrm>
          <a:prstGeom prst="rect">
            <a:avLst/>
          </a:prstGeom>
          <a:solidFill>
            <a:srgbClr val="E3F1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002D72"/>
                </a:solidFill>
                <a:latin typeface="Arial"/>
              </a:rPr>
              <a:t>Entity 3</a:t>
            </a:r>
          </a:p>
          <a:p>
            <a:pPr algn="l">
              <a:spcAft>
                <a:spcPts val="800"/>
              </a:spcAft>
            </a:pPr>
            <a:r>
              <a:rPr sz="1400" b="1">
                <a:solidFill>
                  <a:srgbClr val="44546A"/>
                </a:solidFill>
                <a:latin typeface="Arial"/>
              </a:rPr>
              <a:t>Monitor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222B38"/>
                </a:solidFill>
                <a:latin typeface="Arial"/>
              </a:rPr>
              <a:t>• No limit breached on level; keep daily monitoring of single-day deposit and loan moves.</a:t>
            </a:r>
          </a:p>
        </p:txBody>
      </p:sp>
      <p:sp>
        <p:nvSpPr>
          <p:cNvPr id="6" name="Takeaway"/>
          <p:cNvSpPr/>
          <p:nvPr/>
        </p:nvSpPr>
        <p:spPr>
          <a:xfrm>
            <a:off x="457200" y="5440680"/>
            <a:ext cx="11274552" cy="640080"/>
          </a:xfrm>
          <a:prstGeom prst="rect">
            <a:avLst/>
          </a:prstGeom>
          <a:solidFill>
            <a:srgbClr val="002D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5" bIns="128015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Please confirm: </a:t>
            </a:r>
            <a:r>
              <a:rPr sz="1400" b="0">
                <a:solidFill>
                  <a:srgbClr val="FFFFFF"/>
                </a:solidFill>
                <a:latin typeface="Arial"/>
              </a:rPr>
              <a:t>moves of exactly 3% (deposits) or 5% (loans), 16 and 5 instances, are treated as at-limit, not breaches.</a:t>
            </a:r>
          </a:p>
        </p:txBody>
      </p:sp>
      <p:sp>
        <p:nvSpPr>
          <p:cNvPr id="7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Citi Finance analysis of Deposits &amp; Loans team data, Jan–Feb ’23. Actions are proposed for discussion.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daily deposit and loan breaches</a:t>
            </a:r>
          </a:p>
        </p:txBody>
      </p:sp>
      <p:sp>
        <p:nvSpPr>
          <p:cNvPr id="3" name="Deposit falls above 3%"/>
          <p:cNvSpPr txBox="1"/>
          <p:nvPr/>
        </p:nvSpPr>
        <p:spPr>
          <a:xfrm>
            <a:off x="457200" y="1325880"/>
            <a:ext cx="5468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Deposit falls above 3%</a:t>
            </a:r>
          </a:p>
        </p:txBody>
      </p:sp>
      <p:graphicFrame>
        <p:nvGraphicFramePr>
          <p:cNvPr id="4" name="Deposit falls above 3% table"/>
          <p:cNvGraphicFramePr>
            <a:graphicFrameLocks noGrp="1"/>
          </p:cNvGraphicFramePr>
          <p:nvPr/>
        </p:nvGraphicFramePr>
        <p:xfrm>
          <a:off x="457200" y="1691640"/>
          <a:ext cx="5468112" cy="256032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920240"/>
                <a:gridCol w="190195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Entity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Move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20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(5.0%)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(5.0%)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28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(5.0%)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24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28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3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20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(4.0%)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</a:tbl>
          </a:graphicData>
        </a:graphic>
      </p:graphicFrame>
      <p:sp>
        <p:nvSpPr>
          <p:cNvPr id="5" name="Loan rises above 5%"/>
          <p:cNvSpPr txBox="1"/>
          <p:nvPr/>
        </p:nvSpPr>
        <p:spPr>
          <a:xfrm>
            <a:off x="6263640" y="1325880"/>
            <a:ext cx="546811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002D72"/>
                </a:solidFill>
                <a:latin typeface="Arial"/>
              </a:rPr>
              <a:t>Loan rises above 5%</a:t>
            </a:r>
          </a:p>
        </p:txBody>
      </p:sp>
      <p:graphicFrame>
        <p:nvGraphicFramePr>
          <p:cNvPr id="6" name="Loan rises above 5% table"/>
          <p:cNvGraphicFramePr>
            <a:graphicFrameLocks noGrp="1"/>
          </p:cNvGraphicFramePr>
          <p:nvPr/>
        </p:nvGraphicFramePr>
        <p:xfrm>
          <a:off x="6263640" y="1691640"/>
          <a:ext cx="5468112" cy="32918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645920"/>
                <a:gridCol w="1920240"/>
                <a:gridCol w="1901952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Entity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Date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Move</a:t>
                      </a:r>
                    </a:p>
                  </a:txBody>
                  <a:tcPr anchor="ctr" marL="91440" marR="91440" marT="36576" marB="36576">
                    <a:solidFill>
                      <a:srgbClr val="002D7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6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+6.0%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1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13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+8.0%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17 Jan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+6.0%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13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+6.0%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17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+8.0%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2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21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+6.0%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3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2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+8.0%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Entity 3</a:t>
                      </a:r>
                    </a:p>
                  </a:txBody>
                  <a:tcPr anchor="ctr" marL="91440" marR="91440" marT="36576" marB="36576">
                    <a:solidFill>
                      <a:srgbClr val="EEF2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14 Feb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222B38"/>
                          </a:solidFill>
                          <a:latin typeface="Arial"/>
                        </a:rPr>
                        <a:t>+6.0%</a:t>
                      </a:r>
                    </a:p>
                  </a:txBody>
                  <a:tcPr anchor="ctr" marL="91440" marR="91440" marT="36576" marB="36576">
                    <a:solidFill>
                      <a:srgbClr val="FFF0D0"/>
                    </a:solidFill>
                  </a:tcPr>
                </a:tc>
              </a:tr>
            </a:tbl>
          </a:graphicData>
        </a:graphic>
      </p:graphicFrame>
      <p:sp>
        <p:nvSpPr>
          <p:cNvPr id="7" name="Source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000" b="0">
                <a:solidFill>
                  <a:srgbClr val="44546A"/>
                </a:solidFill>
                <a:latin typeface="Arial"/>
              </a:rPr>
              <a:t>Source: Deposits &amp; Loans team daily positions ($m); Citi Finance analysis. Day-on-day change versus the previous business 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Macintosh PowerPoint</Application>
  <PresentationFormat>Widescreen</PresentationFormat>
  <Paragraphs>17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Introduction</vt:lpstr>
      <vt:lpstr>Risk Triggers Monitoring</vt:lpstr>
      <vt:lpstr>Risk Triggers Monitoring (cont.)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Tammy Tran</cp:lastModifiedBy>
  <cp:revision>1</cp:revision>
  <dcterms:created xsi:type="dcterms:W3CDTF">2015-07-20T16:22:45Z</dcterms:created>
  <dcterms:modified xsi:type="dcterms:W3CDTF">2023-06-01T16:02:59Z</dcterms:modified>
</cp:coreProperties>
</file>