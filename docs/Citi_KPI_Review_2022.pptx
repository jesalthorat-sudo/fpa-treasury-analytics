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8"/>
    <p:sldId id="260" r:id="rId7"/>
    <p:sldId id="261" r:id="rId6"/>
    <p:sldId id="262" r:id="rId14"/>
    <p:sldId id="263" r:id="rId15"/>
    <p:sldId id="257" r:id="rId3"/>
    <p:sldId id="258" r:id="rId4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oAJJHgtH1EsXjwJdKg9dXAIC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>
        <p:scale>
          <a:sx n="120" d="100"/>
          <a:sy n="120" d="100"/>
        </p:scale>
        <p:origin x="256" y="72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customschemas.google.com/relationships/presentationmetadata" Target="meta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Net revenues by operating unit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2021A</c:v>
                </c:pt>
              </c:strCache>
            </c:strRef>
          </c:tx>
          <c:spPr>
            <a:solidFill>
              <a:srgbClr val="A6B1C2"/>
            </a:solidFill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sz="1100"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ICG</c:v>
                </c:pt>
                <c:pt idx="1">
                  <c:v>PBWM</c:v>
                </c:pt>
                <c:pt idx="2">
                  <c:v>Legacy Franchises</c:v>
                </c:pt>
                <c:pt idx="3">
                  <c:v>Corporate / 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8908</c:v>
                </c:pt>
                <c:pt idx="1">
                  <c:v>5785</c:v>
                </c:pt>
                <c:pt idx="2">
                  <c:v>2193</c:v>
                </c:pt>
                <c:pt idx="3">
                  <c:v>131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2022E</c:v>
                </c:pt>
              </c:strCache>
            </c:strRef>
          </c:tx>
          <c:spPr>
            <a:solidFill>
              <a:srgbClr val="002D72"/>
            </a:solidFill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sz="1100"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ICG</c:v>
                </c:pt>
                <c:pt idx="1">
                  <c:v>PBWM</c:v>
                </c:pt>
                <c:pt idx="2">
                  <c:v>Legacy Franchises</c:v>
                </c:pt>
                <c:pt idx="3">
                  <c:v>Corporate / Other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9159</c:v>
                </c:pt>
                <c:pt idx="1">
                  <c:v>6096</c:v>
                </c:pt>
                <c:pt idx="2">
                  <c:v>2052</c:v>
                </c:pt>
                <c:pt idx="3">
                  <c:v>699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Operating expenses by type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2021A</c:v>
                </c:pt>
              </c:strCache>
            </c:strRef>
          </c:tx>
          <c:spPr>
            <a:solidFill>
              <a:srgbClr val="A6B1C2"/>
            </a:solidFill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sz="1100"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Compensation</c:v>
                </c:pt>
                <c:pt idx="1">
                  <c:v>Technology</c:v>
                </c:pt>
                <c:pt idx="2">
                  <c:v>Other operating</c:v>
                </c:pt>
                <c:pt idx="3">
                  <c:v>Premises</c:v>
                </c:pt>
                <c:pt idx="4">
                  <c:v>Advertising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7093</c:v>
                </c:pt>
                <c:pt idx="1">
                  <c:v>2084</c:v>
                </c:pt>
                <c:pt idx="2">
                  <c:v>3257</c:v>
                </c:pt>
                <c:pt idx="3">
                  <c:v>620</c:v>
                </c:pt>
                <c:pt idx="4">
                  <c:v>478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2022E</c:v>
                </c:pt>
              </c:strCache>
            </c:strRef>
          </c:tx>
          <c:spPr>
            <a:solidFill>
              <a:srgbClr val="002D72"/>
            </a:solidFill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sz="1100"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Compensation</c:v>
                </c:pt>
                <c:pt idx="1">
                  <c:v>Technology</c:v>
                </c:pt>
                <c:pt idx="2">
                  <c:v>Other operating</c:v>
                </c:pt>
                <c:pt idx="3">
                  <c:v>Premises</c:v>
                </c:pt>
                <c:pt idx="4">
                  <c:v>Advertising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6618</c:v>
                </c:pt>
                <c:pt idx="1">
                  <c:v>2358</c:v>
                </c:pt>
                <c:pt idx="2">
                  <c:v>2984</c:v>
                </c:pt>
                <c:pt idx="3">
                  <c:v>601</c:v>
                </c:pt>
                <c:pt idx="4">
                  <c:v>424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Cost of credit components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2021A</c:v>
                </c:pt>
              </c:strCache>
            </c:strRef>
          </c:tx>
          <c:spPr>
            <a:solidFill>
              <a:srgbClr val="A6B1C2"/>
            </a:solidFill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sz="1100"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Net credit losses</c:v>
                </c:pt>
                <c:pt idx="1">
                  <c:v>Net ACL build / (release)</c:v>
                </c:pt>
                <c:pt idx="2">
                  <c:v>Other provisions</c:v>
                </c:pt>
                <c:pt idx="3">
                  <c:v>Total cost of credit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866</c:v>
                </c:pt>
                <c:pt idx="1">
                  <c:v>-1369</c:v>
                </c:pt>
                <c:pt idx="2">
                  <c:v>38</c:v>
                </c:pt>
                <c:pt idx="3">
                  <c:v>-465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2022E</c:v>
                </c:pt>
              </c:strCache>
            </c:strRef>
          </c:tx>
          <c:spPr>
            <a:solidFill>
              <a:srgbClr val="002D72"/>
            </a:solidFill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sz="1100"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Net credit losses</c:v>
                </c:pt>
                <c:pt idx="1">
                  <c:v>Net ACL build / (release)</c:v>
                </c:pt>
                <c:pt idx="2">
                  <c:v>Other provisions</c:v>
                </c:pt>
                <c:pt idx="3">
                  <c:v>Total cost of credit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1180</c:v>
                </c:pt>
                <c:pt idx="1">
                  <c:v>640</c:v>
                </c:pt>
                <c:pt idx="2">
                  <c:v>25</c:v>
                </c:pt>
                <c:pt idx="3">
                  <c:v>1845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Citigroup net income bridge, 2021A to 2022E ($m)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2021A
3,173</c:v>
                </c:pt>
                <c:pt idx="1">
                  <c:v>Revenues
+989</c:v>
                </c:pt>
                <c:pt idx="2">
                  <c:v>Expenses
+547</c:v>
                </c:pt>
                <c:pt idx="3">
                  <c:v>Cost of credit
(2,310)</c:v>
                </c:pt>
                <c:pt idx="4">
                  <c:v>Taxes
+131</c:v>
                </c:pt>
                <c:pt idx="5">
                  <c:v>Other
(17)</c:v>
                </c:pt>
                <c:pt idx="6">
                  <c:v>2022E
2,513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3173</c:v>
                </c:pt>
                <c:pt idx="2">
                  <c:v>4162</c:v>
                </c:pt>
                <c:pt idx="3">
                  <c:v>2399</c:v>
                </c:pt>
                <c:pt idx="4">
                  <c:v>2399</c:v>
                </c:pt>
                <c:pt idx="5">
                  <c:v>2513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2D72"/>
            </a:solidFill>
          </c:spPr>
          <c:cat>
            <c:strRef>
              <c:f>Sheet1!$A$2:$A$8</c:f>
              <c:strCache>
                <c:ptCount val="7"/>
                <c:pt idx="0">
                  <c:v>2021A
3,173</c:v>
                </c:pt>
                <c:pt idx="1">
                  <c:v>Revenues
+989</c:v>
                </c:pt>
                <c:pt idx="2">
                  <c:v>Expenses
+547</c:v>
                </c:pt>
                <c:pt idx="3">
                  <c:v>Cost of credit
(2,310)</c:v>
                </c:pt>
                <c:pt idx="4">
                  <c:v>Taxes
+131</c:v>
                </c:pt>
                <c:pt idx="5">
                  <c:v>Other
(17)</c:v>
                </c:pt>
                <c:pt idx="6">
                  <c:v>2022E
2,513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3173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2513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Favourable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Sheet1!$A$2:$A$8</c:f>
              <c:strCache>
                <c:ptCount val="7"/>
                <c:pt idx="0">
                  <c:v>2021A
3,173</c:v>
                </c:pt>
                <c:pt idx="1">
                  <c:v>Revenues
+989</c:v>
                </c:pt>
                <c:pt idx="2">
                  <c:v>Expenses
+547</c:v>
                </c:pt>
                <c:pt idx="3">
                  <c:v>Cost of credit
(2,310)</c:v>
                </c:pt>
                <c:pt idx="4">
                  <c:v>Taxes
+131</c:v>
                </c:pt>
                <c:pt idx="5">
                  <c:v>Other
(17)</c:v>
                </c:pt>
                <c:pt idx="6">
                  <c:v>2022E
2,513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989</c:v>
                </c:pt>
                <c:pt idx="2">
                  <c:v>547</c:v>
                </c:pt>
                <c:pt idx="3">
                  <c:v>0</c:v>
                </c:pt>
                <c:pt idx="4">
                  <c:v>131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Adverse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Sheet1!$A$2:$A$8</c:f>
              <c:strCache>
                <c:ptCount val="7"/>
                <c:pt idx="0">
                  <c:v>2021A
3,173</c:v>
                </c:pt>
                <c:pt idx="1">
                  <c:v>Revenues
+989</c:v>
                </c:pt>
                <c:pt idx="2">
                  <c:v>Expenses
+547</c:v>
                </c:pt>
                <c:pt idx="3">
                  <c:v>Cost of credit
(2,310)</c:v>
                </c:pt>
                <c:pt idx="4">
                  <c:v>Taxes
+131</c:v>
                </c:pt>
                <c:pt idx="5">
                  <c:v>Other
(17)</c:v>
                </c:pt>
                <c:pt idx="6">
                  <c:v>2022E
2,513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2310</c:v>
                </c:pt>
                <c:pt idx="4">
                  <c:v>0</c:v>
                </c:pt>
                <c:pt idx="5">
                  <c:v>17</c:v>
                </c:pt>
                <c:pt idx="6">
                  <c:v>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9300"/>
            <a:ext cx="6623050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9" name="Google Shape;19;p5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avLst/>
              <a:gdLst/>
              <a:ahLst/>
              <a:cxnLst/>
              <a:rect l="l" t="t" r="r" b="b"/>
              <a:pathLst>
                <a:path w="8064578" h="300814" extrusionOk="0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22;p5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5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5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5" name="Google Shape;25;p5"/>
            <p:cNvSpPr/>
            <p:nvPr/>
          </p:nvSpPr>
          <p:spPr>
            <a:xfrm>
              <a:off x="-540381" y="5887508"/>
              <a:ext cx="8074126" cy="46038"/>
            </a:xfrm>
            <a:custGeom>
              <a:avLst/>
              <a:gdLst/>
              <a:ahLst/>
              <a:cxnLst/>
              <a:rect l="l" t="t" r="r" b="b"/>
              <a:pathLst>
                <a:path w="763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75" cap="flat" cmpd="sng">
              <a:solidFill>
                <a:srgbClr val="63666A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7639574" y="5887827"/>
              <a:ext cx="1277774" cy="45719"/>
            </a:xfrm>
            <a:custGeom>
              <a:avLst/>
              <a:gdLst/>
              <a:ahLst/>
              <a:cxnLst/>
              <a:rect l="l" t="t" r="r" b="b"/>
              <a:pathLst>
                <a:path w="1357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75" cap="flat" cmpd="sng">
              <a:solidFill>
                <a:srgbClr val="002D72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4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avLst/>
              <a:gdLst/>
              <a:ahLst/>
              <a:cxnLst/>
              <a:rect l="l" t="t" r="r" b="b"/>
              <a:pathLst>
                <a:path w="8064578" h="300568" extrusionOk="0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4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115606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Annual Operating Plan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1800"/>
              <a:buNone/>
            </a:pP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400"/>
              <a:buNone/>
            </a:pPr>
            <a:r>
              <a:rPr lang="en-GB" sz="14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April 6, 2023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Appendix: Financial Forecast to 31 Dec ’22</a:t>
            </a:r>
            <a:endParaRPr sz="2000"/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313" y="1309258"/>
            <a:ext cx="5049374" cy="1326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Appendix: Financial Forecast to 31 Dec ’22 (cont.)</a:t>
            </a:r>
            <a:endParaRPr sz="2000"/>
          </a:p>
        </p:txBody>
      </p:sp>
      <p:sp>
        <p:nvSpPr>
          <p:cNvPr id="51" name="Google Shape;51;p3"/>
          <p:cNvSpPr txBox="1"/>
          <p:nvPr/>
        </p:nvSpPr>
        <p:spPr>
          <a:xfrm>
            <a:off x="630444" y="3061783"/>
            <a:ext cx="11415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9266" y="1243695"/>
            <a:ext cx="4473468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/>
        </p:nvSpPr>
        <p:spPr>
          <a:xfrm>
            <a:off x="8410575" y="2527071"/>
            <a:ext cx="3048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Includes credit reserve build / (release) for loans and provision for credit losses on unfunded lending commitments.</a:t>
            </a:r>
            <a:b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Includes provisions for policyholder benefits and claims, HTM debt securities and other assets.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2022E: revenue up, but cost of credit drives net income down</a:t>
            </a:r>
          </a:p>
        </p:txBody>
      </p:sp>
      <p:sp>
        <p:nvSpPr>
          <p:cNvPr id="3" name="KPI card Revenues"/>
          <p:cNvSpPr/>
          <p:nvPr/>
        </p:nvSpPr>
        <p:spPr>
          <a:xfrm>
            <a:off x="457200" y="1508760"/>
            <a:ext cx="2647188" cy="3246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4546A"/>
                </a:solidFill>
                <a:latin typeface="Arial"/>
              </a:rPr>
              <a:t>Revenues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002D72"/>
                </a:solidFill>
                <a:latin typeface="Arial"/>
              </a:rPr>
              <a:t>$18.0bn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vs $17.0bn  |  +6%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22B38"/>
                </a:solidFill>
                <a:latin typeface="Arial"/>
              </a:rPr>
              <a:t>Higher rates lift net interest income (+23%); lower fee income and Banking offset part.</a:t>
            </a:r>
          </a:p>
        </p:txBody>
      </p:sp>
      <p:sp>
        <p:nvSpPr>
          <p:cNvPr id="4" name="KPI card Operating expenses"/>
          <p:cNvSpPr/>
          <p:nvPr/>
        </p:nvSpPr>
        <p:spPr>
          <a:xfrm>
            <a:off x="3332988" y="1508760"/>
            <a:ext cx="2647188" cy="3246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4546A"/>
                </a:solidFill>
                <a:latin typeface="Arial"/>
              </a:rPr>
              <a:t>Operating expenses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002D72"/>
                </a:solidFill>
                <a:latin typeface="Arial"/>
              </a:rPr>
              <a:t>$13.0bn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E7D32"/>
                </a:solidFill>
                <a:latin typeface="Arial"/>
              </a:rPr>
              <a:t>vs $13.5bn  |  (4%)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22B38"/>
                </a:solidFill>
                <a:latin typeface="Arial"/>
              </a:rPr>
              <a:t>No repeat of $1.2bn Legacy divestiture costs; ICG and PBWM keep investing.</a:t>
            </a:r>
          </a:p>
        </p:txBody>
      </p:sp>
      <p:sp>
        <p:nvSpPr>
          <p:cNvPr id="5" name="KPI card Cost of credit"/>
          <p:cNvSpPr/>
          <p:nvPr/>
        </p:nvSpPr>
        <p:spPr>
          <a:xfrm>
            <a:off x="6208776" y="1508760"/>
            <a:ext cx="2647188" cy="3246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4546A"/>
                </a:solidFill>
                <a:latin typeface="Arial"/>
              </a:rPr>
              <a:t>Cost of credit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002D72"/>
                </a:solidFill>
                <a:latin typeface="Arial"/>
              </a:rPr>
              <a:t>$1.8bn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C8102E"/>
                </a:solidFill>
                <a:latin typeface="Arial"/>
              </a:rPr>
              <a:t>vs $(0.5)bn  |  +$2.3bn swing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22B38"/>
                </a:solidFill>
                <a:latin typeface="Arial"/>
              </a:rPr>
              <a:t>Credit losses normalise and 2021 reserve releases become 2022 builds.</a:t>
            </a:r>
          </a:p>
        </p:txBody>
      </p:sp>
      <p:sp>
        <p:nvSpPr>
          <p:cNvPr id="6" name="KPI card Net income"/>
          <p:cNvSpPr/>
          <p:nvPr/>
        </p:nvSpPr>
        <p:spPr>
          <a:xfrm>
            <a:off x="9084564" y="1508760"/>
            <a:ext cx="2647188" cy="3246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4546A"/>
                </a:solidFill>
                <a:latin typeface="Arial"/>
              </a:rPr>
              <a:t>Net income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002D72"/>
                </a:solidFill>
                <a:latin typeface="Arial"/>
              </a:rPr>
              <a:t>$2.5bn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C8102E"/>
                </a:solidFill>
                <a:latin typeface="Arial"/>
              </a:rPr>
              <a:t>vs $3.2bn  |  (21%)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22B38"/>
                </a:solidFill>
                <a:latin typeface="Arial"/>
              </a:rPr>
              <a:t>Credit swing outweighs the $1.5bn gain from revenue and expenses.</a:t>
            </a:r>
          </a:p>
        </p:txBody>
      </p:sp>
      <p:sp>
        <p:nvSpPr>
          <p:cNvPr id="7" name="Takeaway"/>
          <p:cNvSpPr/>
          <p:nvPr/>
        </p:nvSpPr>
        <p:spPr>
          <a:xfrm>
            <a:off x="457200" y="5029200"/>
            <a:ext cx="11274552" cy="86868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Revenues +$1.0bn and expenses –$0.5bn add $1.5bn to pre-credit profit; a $2.3bn adverse swing in cost of credit takes pre-tax income down $0.8bn.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 FP&amp;A forecast summary and YE ’22 financials. $m unless stated; 2022E = forecast, 2021A = actual.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Revenues up 6% on higher rates, led by ICG and PBWM</a:t>
            </a:r>
          </a:p>
        </p:txBody>
      </p:sp>
      <p:graphicFrame>
        <p:nvGraphicFramePr>
          <p:cNvPr id="3" name="Net revenues by operating unit ($m)"/>
          <p:cNvGraphicFramePr>
            <a:graphicFrameLocks noGrp="1"/>
          </p:cNvGraphicFramePr>
          <p:nvPr/>
        </p:nvGraphicFramePr>
        <p:xfrm>
          <a:off x="457200" y="137160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Drivers"/>
          <p:cNvSpPr txBox="1"/>
          <p:nvPr/>
        </p:nvSpPr>
        <p:spPr>
          <a:xfrm>
            <a:off x="6400800" y="1463040"/>
            <a:ext cx="533095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ICG  </a:t>
            </a:r>
            <a:r>
              <a:rPr sz="1400" b="1">
                <a:solidFill>
                  <a:srgbClr val="2E7D32"/>
                </a:solidFill>
                <a:latin typeface="Arial"/>
              </a:rPr>
              <a:t>+3%  ($9.2bn)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TTS, Securities Services and Fixed Income strength, partly offset by lower Investment Banking and Equity Markets.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PBWM  </a:t>
            </a:r>
            <a:r>
              <a:rPr sz="1400" b="1">
                <a:solidFill>
                  <a:srgbClr val="2E7D32"/>
                </a:solidFill>
                <a:latin typeface="Arial"/>
              </a:rPr>
              <a:t>+5%  ($6.1bn)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US Personal Banking +10% on loan growth and rates; Global Wealth down 6% on lower investment revenue.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Legacy Franchises  </a:t>
            </a:r>
            <a:r>
              <a:rPr sz="1400" b="1">
                <a:solidFill>
                  <a:srgbClr val="C8102E"/>
                </a:solidFill>
                <a:latin typeface="Arial"/>
              </a:rPr>
              <a:t>(6%)  ($2.1bn)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Exit markets and Korea / Russia wind-downs, partly offset by the Thailand sale gain.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Corporate / Other  </a:t>
            </a:r>
            <a:r>
              <a:rPr sz="1400" b="1">
                <a:solidFill>
                  <a:srgbClr val="2E7D32"/>
                </a:solidFill>
                <a:latin typeface="Arial"/>
              </a:rPr>
              <a:t>+$0.6bn  ($0.7bn)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Higher investment-portfolio income as interest rates rise.</a:t>
            </a:r>
          </a:p>
        </p:txBody>
      </p:sp>
      <p:sp>
        <p:nvSpPr>
          <p:cNvPr id="5" name="Takeaway"/>
          <p:cNvSpPr/>
          <p:nvPr/>
        </p:nvSpPr>
        <p:spPr>
          <a:xfrm>
            <a:off x="457200" y="5577840"/>
            <a:ext cx="11274552" cy="64008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Consolidated:  </a:t>
            </a:r>
            <a:r>
              <a:rPr sz="1400" b="0">
                <a:solidFill>
                  <a:srgbClr val="FFFFFF"/>
                </a:solidFill>
                <a:latin typeface="Arial"/>
              </a:rPr>
              <a:t>net interest income +$2.5bn (+23%); non-interest revenue –$1.5bn (–24%), mainly commissions and fees.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 FP&amp;A forecast summary and YE ’22 financials. $m unless stated; 2022E = forecast, 2021A = actual.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expenses down 4% as divestiture costs roll off</a:t>
            </a:r>
          </a:p>
        </p:txBody>
      </p:sp>
      <p:graphicFrame>
        <p:nvGraphicFramePr>
          <p:cNvPr id="3" name="Operating expenses by type ($m)"/>
          <p:cNvGraphicFramePr>
            <a:graphicFrameLocks noGrp="1"/>
          </p:cNvGraphicFramePr>
          <p:nvPr/>
        </p:nvGraphicFramePr>
        <p:xfrm>
          <a:off x="457200" y="137160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Drivers"/>
          <p:cNvSpPr txBox="1"/>
          <p:nvPr/>
        </p:nvSpPr>
        <p:spPr>
          <a:xfrm>
            <a:off x="6400800" y="1463040"/>
            <a:ext cx="533095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ICG  </a:t>
            </a:r>
            <a:r>
              <a:rPr sz="1400" b="1">
                <a:solidFill>
                  <a:srgbClr val="C8102E"/>
                </a:solidFill>
                <a:latin typeface="Arial"/>
              </a:rPr>
              <a:t>+6%  ($6.6bn)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Transformation, business-led and volume-related costs, partly offset by FX and productivity savings.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PBWM  </a:t>
            </a:r>
            <a:r>
              <a:rPr sz="1400" b="1">
                <a:solidFill>
                  <a:srgbClr val="C8102E"/>
                </a:solidFill>
                <a:latin typeface="Arial"/>
              </a:rPr>
              <a:t>+7%  ($4.3bn)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Transformation investment and risk and control initiatives.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Legacy Franchises  </a:t>
            </a:r>
            <a:r>
              <a:rPr sz="1400" b="1">
                <a:solidFill>
                  <a:srgbClr val="2E7D32"/>
                </a:solidFill>
                <a:latin typeface="Arial"/>
              </a:rPr>
              <a:t>(38%)  ($1.8bn)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2021 included $1.2bn of divestiture-related costs; exit markets add savings.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Corporate / Other  </a:t>
            </a:r>
            <a:r>
              <a:rPr sz="1400" b="1">
                <a:solidFill>
                  <a:srgbClr val="2E7D32"/>
                </a:solidFill>
                <a:latin typeface="Arial"/>
              </a:rPr>
              <a:t>(23%)  ($0.2bn)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Lower consulting expenses.</a:t>
            </a:r>
          </a:p>
        </p:txBody>
      </p:sp>
      <p:sp>
        <p:nvSpPr>
          <p:cNvPr id="5" name="Takeaway"/>
          <p:cNvSpPr/>
          <p:nvPr/>
        </p:nvSpPr>
        <p:spPr>
          <a:xfrm>
            <a:off x="457200" y="5577840"/>
            <a:ext cx="11274552" cy="64008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Consolidated:  </a:t>
            </a:r>
            <a:r>
              <a:rPr sz="1400" b="0">
                <a:solidFill>
                  <a:srgbClr val="FFFFFF"/>
                </a:solidFill>
                <a:latin typeface="Arial"/>
              </a:rPr>
              <a:t>compensation –$475m and other operating –$273m outweigh technology +$274m (+13%).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 FP&amp;A forecast summary and YE ’22 financials. $m unless stated; 2022E = forecast, 2021A = actual.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of credit swings $2.3bn from a release to a charge</a:t>
            </a:r>
          </a:p>
        </p:txBody>
      </p:sp>
      <p:graphicFrame>
        <p:nvGraphicFramePr>
          <p:cNvPr id="3" name="Cost of credit components ($m)"/>
          <p:cNvGraphicFramePr>
            <a:graphicFrameLocks noGrp="1"/>
          </p:cNvGraphicFramePr>
          <p:nvPr/>
        </p:nvGraphicFramePr>
        <p:xfrm>
          <a:off x="457200" y="137160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Drivers"/>
          <p:cNvSpPr txBox="1"/>
          <p:nvPr/>
        </p:nvSpPr>
        <p:spPr>
          <a:xfrm>
            <a:off x="6400800" y="1463040"/>
            <a:ext cx="533095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Net credit losses  </a:t>
            </a:r>
            <a:r>
              <a:rPr sz="1400" b="1">
                <a:solidFill>
                  <a:srgbClr val="C8102E"/>
                </a:solidFill>
                <a:latin typeface="Arial"/>
              </a:rPr>
              <a:t>+36%  ($1.2bn)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Normalising from historically low levels, especially Retail Services (PBWM losses $908m, +60%).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Net ACL  </a:t>
            </a:r>
            <a:r>
              <a:rPr sz="1400" b="1">
                <a:solidFill>
                  <a:srgbClr val="C8102E"/>
                </a:solidFill>
                <a:latin typeface="Arial"/>
              </a:rPr>
              <a:t>$(1.4)bn release to $0.6bn build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PBWM builds on cards growth and weaker macro assumptions; ICG releases on lower Russia exposure.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Other provisions  </a:t>
            </a:r>
            <a:r>
              <a:rPr sz="1400" b="1">
                <a:solidFill>
                  <a:srgbClr val="2E7D32"/>
                </a:solidFill>
                <a:latin typeface="Arial"/>
              </a:rPr>
              <a:t>(34%)  ($25m)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Policyholder, HTM and other asset provisions; immaterial.</a:t>
            </a:r>
          </a:p>
        </p:txBody>
      </p:sp>
      <p:sp>
        <p:nvSpPr>
          <p:cNvPr id="5" name="Takeaway"/>
          <p:cNvSpPr/>
          <p:nvPr/>
        </p:nvSpPr>
        <p:spPr>
          <a:xfrm>
            <a:off x="457200" y="5577840"/>
            <a:ext cx="11274552" cy="64008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By unit:  </a:t>
            </a:r>
            <a:r>
              <a:rPr sz="1400" b="0">
                <a:solidFill>
                  <a:srgbClr val="FFFFFF"/>
                </a:solidFill>
                <a:latin typeface="Arial"/>
              </a:rPr>
              <a:t>PBWM ~$1.7bn (2021: $(296)m);  ICG $56m (2021: $(281)m);  Legacy $123m (2021: $112m).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 FP&amp;A forecast summary and YE ’22 financials. $m unless stated; 2022E = forecast, 2021A = actual.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income down 21%: credit costs outweigh operating gains</a:t>
            </a:r>
          </a:p>
        </p:txBody>
      </p:sp>
      <p:graphicFrame>
        <p:nvGraphicFramePr>
          <p:cNvPr id="3" name="Net income bridge"/>
          <p:cNvGraphicFramePr>
            <a:graphicFrameLocks noGrp="1"/>
          </p:cNvGraphicFramePr>
          <p:nvPr/>
        </p:nvGraphicFramePr>
        <p:xfrm>
          <a:off x="457200" y="137160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Segment net income"/>
          <p:cNvGraphicFramePr>
            <a:graphicFrameLocks noGrp="1"/>
          </p:cNvGraphicFramePr>
          <p:nvPr/>
        </p:nvGraphicFramePr>
        <p:xfrm>
          <a:off x="6766560" y="1554480"/>
          <a:ext cx="4965192" cy="3703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685800"/>
                <a:gridCol w="685800"/>
                <a:gridCol w="2176272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Income from continuing ops ($m)</a:t>
                      </a:r>
                    </a:p>
                  </a:txBody>
                  <a:tcPr anchor="ctr" marL="73152" marR="73152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2021A</a:t>
                      </a:r>
                    </a:p>
                  </a:txBody>
                  <a:tcPr anchor="ctr" marL="73152" marR="73152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2022E</a:t>
                      </a:r>
                    </a:p>
                  </a:txBody>
                  <a:tcPr anchor="ctr" marL="73152" marR="73152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Main driver</a:t>
                      </a:r>
                    </a:p>
                  </a:txBody>
                  <a:tcPr anchor="ctr" marL="73152" marR="73152" marT="36576" marB="36576">
                    <a:solidFill>
                      <a:srgbClr val="002D7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ICG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2,330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1,916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Higher expenses and cost of credit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PBWM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1,613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Cost-of-credit build; higher expenses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Legacy Franchises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(620)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No repeat of $1.2bn divestiture costs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Corporate / Other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(144)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Higher investment income; lower costs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73152" marR="73152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3,179</a:t>
                      </a:r>
                    </a:p>
                  </a:txBody>
                  <a:tcPr anchor="ctr" marL="73152" marR="73152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2,536</a:t>
                      </a:r>
                    </a:p>
                  </a:txBody>
                  <a:tcPr anchor="ctr" marL="73152" marR="73152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(20%)</a:t>
                      </a:r>
                    </a:p>
                  </a:txBody>
                  <a:tcPr anchor="ctr" marL="73152" marR="73152" marT="36576" marB="36576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akeaway"/>
          <p:cNvSpPr/>
          <p:nvPr/>
        </p:nvSpPr>
        <p:spPr>
          <a:xfrm>
            <a:off x="457200" y="5577840"/>
            <a:ext cx="11274552" cy="64008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Bottom line:  </a:t>
            </a:r>
            <a:r>
              <a:rPr sz="1400" b="0">
                <a:solidFill>
                  <a:srgbClr val="FFFFFF"/>
                </a:solidFill>
                <a:latin typeface="Arial"/>
              </a:rPr>
              <a:t>the $2.3bn credit swing more than absorbs $1.5bn of revenue and expense gains.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 FP&amp;A forecast summary and YE ’22 financials. $m unless stated; 2022E = forecast, 2021A = actual.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Macintosh PowerPoint</Application>
  <PresentationFormat>Widescreen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Financial Forecast to 31 Dec ’22</vt:lpstr>
      <vt:lpstr>Financial Forecast to 31 Dec ’22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1</cp:revision>
  <dcterms:created xsi:type="dcterms:W3CDTF">2015-07-20T16:22:45Z</dcterms:created>
  <dcterms:modified xsi:type="dcterms:W3CDTF">2023-06-01T15:23:45Z</dcterms:modified>
</cp:coreProperties>
</file>